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Montserrat Bold" charset="1" panose="00000800000000000000"/>
      <p:regular r:id="rId28"/>
    </p:embeddedFont>
    <p:embeddedFont>
      <p:font typeface="Inter" charset="1" panose="02000503000000020004"/>
      <p:regular r:id="rId29"/>
    </p:embeddedFont>
    <p:embeddedFont>
      <p:font typeface="Inter Italics" charset="1" panose="02000503000000020004"/>
      <p:regular r:id="rId30"/>
    </p:embeddedFont>
    <p:embeddedFont>
      <p:font typeface="Inter Bold" charset="1" panose="020005030000000200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4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svg" Type="http://schemas.openxmlformats.org/officeDocument/2006/relationships/image"/><Relationship Id="rId4" Target="../media/image56.pn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5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19526" y="3230067"/>
            <a:ext cx="7220500" cy="5794451"/>
          </a:xfrm>
          <a:custGeom>
            <a:avLst/>
            <a:gdLst/>
            <a:ahLst/>
            <a:cxnLst/>
            <a:rect r="r" b="b" t="t" l="l"/>
            <a:pathLst>
              <a:path h="5794451" w="7220500">
                <a:moveTo>
                  <a:pt x="0" y="0"/>
                </a:moveTo>
                <a:lnTo>
                  <a:pt x="7220499" y="0"/>
                </a:lnTo>
                <a:lnTo>
                  <a:pt x="7220499" y="5794451"/>
                </a:lnTo>
                <a:lnTo>
                  <a:pt x="0" y="57944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9925" y="997619"/>
            <a:ext cx="551379" cy="609748"/>
          </a:xfrm>
          <a:custGeom>
            <a:avLst/>
            <a:gdLst/>
            <a:ahLst/>
            <a:cxnLst/>
            <a:rect r="r" b="b" t="t" l="l"/>
            <a:pathLst>
              <a:path h="609748" w="551379">
                <a:moveTo>
                  <a:pt x="0" y="0"/>
                </a:moveTo>
                <a:lnTo>
                  <a:pt x="551378" y="0"/>
                </a:lnTo>
                <a:lnTo>
                  <a:pt x="551378" y="609748"/>
                </a:lnTo>
                <a:lnTo>
                  <a:pt x="0" y="6097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05007" y="1028700"/>
            <a:ext cx="3776383" cy="3055437"/>
          </a:xfrm>
          <a:custGeom>
            <a:avLst/>
            <a:gdLst/>
            <a:ahLst/>
            <a:cxnLst/>
            <a:rect r="r" b="b" t="t" l="l"/>
            <a:pathLst>
              <a:path h="3055437" w="3776383">
                <a:moveTo>
                  <a:pt x="0" y="0"/>
                </a:moveTo>
                <a:lnTo>
                  <a:pt x="3776383" y="0"/>
                </a:lnTo>
                <a:lnTo>
                  <a:pt x="3776383" y="3055437"/>
                </a:lnTo>
                <a:lnTo>
                  <a:pt x="0" y="30554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805793"/>
            <a:ext cx="8312264" cy="222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87"/>
              </a:lnSpc>
            </a:pPr>
            <a:r>
              <a:rPr lang="en-US" b="true" sz="12990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รายงาน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383458"/>
            <a:ext cx="9389750" cy="222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87"/>
              </a:lnSpc>
            </a:pPr>
            <a:r>
              <a:rPr lang="en-US" b="true" sz="12990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Scopus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2537" y="1091366"/>
            <a:ext cx="3901038" cy="85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การวิเคราะห์และเตรียมข้อมูล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820807"/>
            <a:ext cx="7359449" cy="85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 i="true">
                <a:solidFill>
                  <a:srgbClr val="6B7280"/>
                </a:solidFill>
                <a:latin typeface="Inter Italics"/>
                <a:ea typeface="Inter Italics"/>
                <a:cs typeface="Inter Italics"/>
                <a:sym typeface="Inter Italics"/>
              </a:rPr>
              <a:t>การวิเคราะห์และเตรียมข้อมูลสำหรับการวิเคราะห์ข้อมูลจากฐานข้อมูล Scopus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27541" y="4273665"/>
            <a:ext cx="5996733" cy="4767402"/>
          </a:xfrm>
          <a:custGeom>
            <a:avLst/>
            <a:gdLst/>
            <a:ahLst/>
            <a:cxnLst/>
            <a:rect r="r" b="b" t="t" l="l"/>
            <a:pathLst>
              <a:path h="4767402" w="5996733">
                <a:moveTo>
                  <a:pt x="0" y="0"/>
                </a:moveTo>
                <a:lnTo>
                  <a:pt x="5996733" y="0"/>
                </a:lnTo>
                <a:lnTo>
                  <a:pt x="5996733" y="4767403"/>
                </a:lnTo>
                <a:lnTo>
                  <a:pt x="0" y="47674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185162"/>
            <a:ext cx="8950467" cy="3916676"/>
            <a:chOff x="0" y="0"/>
            <a:chExt cx="2357325" cy="10315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57325" cy="1031552"/>
            </a:xfrm>
            <a:custGeom>
              <a:avLst/>
              <a:gdLst/>
              <a:ahLst/>
              <a:cxnLst/>
              <a:rect r="r" b="b" t="t" l="l"/>
              <a:pathLst>
                <a:path h="1031552" w="2357325">
                  <a:moveTo>
                    <a:pt x="31139" y="0"/>
                  </a:moveTo>
                  <a:lnTo>
                    <a:pt x="2326186" y="0"/>
                  </a:lnTo>
                  <a:cubicBezTo>
                    <a:pt x="2334444" y="0"/>
                    <a:pt x="2342365" y="3281"/>
                    <a:pt x="2348204" y="9120"/>
                  </a:cubicBezTo>
                  <a:cubicBezTo>
                    <a:pt x="2354044" y="14960"/>
                    <a:pt x="2357325" y="22880"/>
                    <a:pt x="2357325" y="31139"/>
                  </a:cubicBezTo>
                  <a:lnTo>
                    <a:pt x="2357325" y="1000413"/>
                  </a:lnTo>
                  <a:cubicBezTo>
                    <a:pt x="2357325" y="1008672"/>
                    <a:pt x="2354044" y="1016592"/>
                    <a:pt x="2348204" y="1022432"/>
                  </a:cubicBezTo>
                  <a:cubicBezTo>
                    <a:pt x="2342365" y="1028272"/>
                    <a:pt x="2334444" y="1031552"/>
                    <a:pt x="2326186" y="1031552"/>
                  </a:cubicBezTo>
                  <a:lnTo>
                    <a:pt x="31139" y="1031552"/>
                  </a:lnTo>
                  <a:cubicBezTo>
                    <a:pt x="22880" y="1031552"/>
                    <a:pt x="14960" y="1028272"/>
                    <a:pt x="9120" y="1022432"/>
                  </a:cubicBezTo>
                  <a:cubicBezTo>
                    <a:pt x="3281" y="1016592"/>
                    <a:pt x="0" y="1008672"/>
                    <a:pt x="0" y="1000413"/>
                  </a:cubicBezTo>
                  <a:lnTo>
                    <a:pt x="0" y="31139"/>
                  </a:lnTo>
                  <a:cubicBezTo>
                    <a:pt x="0" y="22880"/>
                    <a:pt x="3281" y="14960"/>
                    <a:pt x="9120" y="9120"/>
                  </a:cubicBezTo>
                  <a:cubicBezTo>
                    <a:pt x="14960" y="3281"/>
                    <a:pt x="22880" y="0"/>
                    <a:pt x="31139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57325" cy="1069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559678" y="1199158"/>
            <a:ext cx="699622" cy="1176735"/>
          </a:xfrm>
          <a:custGeom>
            <a:avLst/>
            <a:gdLst/>
            <a:ahLst/>
            <a:cxnLst/>
            <a:rect r="r" b="b" t="t" l="l"/>
            <a:pathLst>
              <a:path h="1176735" w="699622">
                <a:moveTo>
                  <a:pt x="0" y="0"/>
                </a:moveTo>
                <a:lnTo>
                  <a:pt x="699622" y="0"/>
                </a:lnTo>
                <a:lnTo>
                  <a:pt x="699622" y="1176735"/>
                </a:lnTo>
                <a:lnTo>
                  <a:pt x="0" y="11767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847725"/>
            <a:ext cx="8312264" cy="169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0"/>
              </a:lnSpc>
            </a:pPr>
            <a:r>
              <a:rPr lang="en-US" b="true" sz="9992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ผู้จัดทำ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93309" y="847725"/>
            <a:ext cx="3488728" cy="169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0"/>
              </a:lnSpc>
            </a:pPr>
            <a:r>
              <a:rPr lang="en-US" b="true" sz="9992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เนื้อหา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35038" y="3794125"/>
            <a:ext cx="7496402" cy="2788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7"/>
              </a:lnSpc>
              <a:spcBef>
                <a:spcPct val="0"/>
              </a:spcBef>
            </a:pPr>
            <a:r>
              <a:rPr lang="en-US" sz="3198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66011212032  นายพฤฒินันท์  ประเสริฐการ</a:t>
            </a:r>
          </a:p>
          <a:p>
            <a:pPr algn="l" marL="0" indent="0" lvl="0">
              <a:lnSpc>
                <a:spcPts val="4477"/>
              </a:lnSpc>
              <a:spcBef>
                <a:spcPct val="0"/>
              </a:spcBef>
            </a:pPr>
            <a:r>
              <a:rPr lang="en-US" sz="3198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66011212060  นายอภิชาติ  ศรียุทธ</a:t>
            </a:r>
          </a:p>
          <a:p>
            <a:pPr algn="l" marL="0" indent="0" lvl="0">
              <a:lnSpc>
                <a:spcPts val="4477"/>
              </a:lnSpc>
              <a:spcBef>
                <a:spcPct val="0"/>
              </a:spcBef>
            </a:pPr>
            <a:r>
              <a:rPr lang="en-US" sz="3198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66011212104  นายธีรวัฒน์  ไชยปัญหา</a:t>
            </a:r>
          </a:p>
          <a:p>
            <a:pPr algn="l" marL="0" indent="0" lvl="0">
              <a:lnSpc>
                <a:spcPts val="4477"/>
              </a:lnSpc>
              <a:spcBef>
                <a:spcPct val="0"/>
              </a:spcBef>
            </a:pPr>
            <a:r>
              <a:rPr lang="en-US" sz="3198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66011212174  นายธณรัฐ  กันยาเยี่ยม</a:t>
            </a:r>
          </a:p>
          <a:p>
            <a:pPr algn="l" marL="0" indent="0" lvl="0">
              <a:lnSpc>
                <a:spcPts val="4477"/>
              </a:lnSpc>
              <a:spcBef>
                <a:spcPct val="0"/>
              </a:spcBef>
            </a:pPr>
            <a:r>
              <a:rPr lang="en-US" sz="3198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66011212180  นายธีรภัทร  ราชดุษฎี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2170" y="5939125"/>
            <a:ext cx="16883659" cy="3319175"/>
            <a:chOff x="0" y="0"/>
            <a:chExt cx="4446725" cy="8741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6725" cy="874186"/>
            </a:xfrm>
            <a:custGeom>
              <a:avLst/>
              <a:gdLst/>
              <a:ahLst/>
              <a:cxnLst/>
              <a:rect r="r" b="b" t="t" l="l"/>
              <a:pathLst>
                <a:path h="874186" w="4446725">
                  <a:moveTo>
                    <a:pt x="16508" y="0"/>
                  </a:moveTo>
                  <a:lnTo>
                    <a:pt x="4430218" y="0"/>
                  </a:lnTo>
                  <a:cubicBezTo>
                    <a:pt x="4434596" y="0"/>
                    <a:pt x="4438794" y="1739"/>
                    <a:pt x="4441890" y="4835"/>
                  </a:cubicBezTo>
                  <a:cubicBezTo>
                    <a:pt x="4444986" y="7931"/>
                    <a:pt x="4446725" y="12130"/>
                    <a:pt x="4446725" y="16508"/>
                  </a:cubicBezTo>
                  <a:lnTo>
                    <a:pt x="4446725" y="857678"/>
                  </a:lnTo>
                  <a:cubicBezTo>
                    <a:pt x="4446725" y="862056"/>
                    <a:pt x="4444986" y="866255"/>
                    <a:pt x="4441890" y="869351"/>
                  </a:cubicBezTo>
                  <a:cubicBezTo>
                    <a:pt x="4438794" y="872447"/>
                    <a:pt x="4434596" y="874186"/>
                    <a:pt x="4430218" y="874186"/>
                  </a:cubicBezTo>
                  <a:lnTo>
                    <a:pt x="16508" y="874186"/>
                  </a:lnTo>
                  <a:cubicBezTo>
                    <a:pt x="12130" y="874186"/>
                    <a:pt x="7931" y="872447"/>
                    <a:pt x="4835" y="869351"/>
                  </a:cubicBezTo>
                  <a:cubicBezTo>
                    <a:pt x="1739" y="866255"/>
                    <a:pt x="0" y="862056"/>
                    <a:pt x="0" y="857678"/>
                  </a:cubicBezTo>
                  <a:lnTo>
                    <a:pt x="0" y="16508"/>
                  </a:lnTo>
                  <a:cubicBezTo>
                    <a:pt x="0" y="12130"/>
                    <a:pt x="1739" y="7931"/>
                    <a:pt x="4835" y="4835"/>
                  </a:cubicBezTo>
                  <a:cubicBezTo>
                    <a:pt x="7931" y="1739"/>
                    <a:pt x="12130" y="0"/>
                    <a:pt x="16508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46725" cy="912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364408" y="4348961"/>
            <a:ext cx="1271407" cy="1269818"/>
          </a:xfrm>
          <a:custGeom>
            <a:avLst/>
            <a:gdLst/>
            <a:ahLst/>
            <a:cxnLst/>
            <a:rect r="r" b="b" t="t" l="l"/>
            <a:pathLst>
              <a:path h="1269818" w="1271407">
                <a:moveTo>
                  <a:pt x="0" y="0"/>
                </a:moveTo>
                <a:lnTo>
                  <a:pt x="1271407" y="0"/>
                </a:lnTo>
                <a:lnTo>
                  <a:pt x="1271407" y="1269817"/>
                </a:lnTo>
                <a:lnTo>
                  <a:pt x="0" y="12698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302883" y="4369265"/>
            <a:ext cx="1169821" cy="1278078"/>
          </a:xfrm>
          <a:custGeom>
            <a:avLst/>
            <a:gdLst/>
            <a:ahLst/>
            <a:cxnLst/>
            <a:rect r="r" b="b" t="t" l="l"/>
            <a:pathLst>
              <a:path h="1278078" w="1169821">
                <a:moveTo>
                  <a:pt x="0" y="0"/>
                </a:moveTo>
                <a:lnTo>
                  <a:pt x="1169821" y="0"/>
                </a:lnTo>
                <a:lnTo>
                  <a:pt x="1169821" y="1278078"/>
                </a:lnTo>
                <a:lnTo>
                  <a:pt x="0" y="12780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58211" y="4170251"/>
            <a:ext cx="1412289" cy="1676308"/>
          </a:xfrm>
          <a:custGeom>
            <a:avLst/>
            <a:gdLst/>
            <a:ahLst/>
            <a:cxnLst/>
            <a:rect r="r" b="b" t="t" l="l"/>
            <a:pathLst>
              <a:path h="1676308" w="1412289">
                <a:moveTo>
                  <a:pt x="0" y="0"/>
                </a:moveTo>
                <a:lnTo>
                  <a:pt x="1412289" y="0"/>
                </a:lnTo>
                <a:lnTo>
                  <a:pt x="1412289" y="1676307"/>
                </a:lnTo>
                <a:lnTo>
                  <a:pt x="0" y="16763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486657" y="4342569"/>
            <a:ext cx="1629501" cy="1610747"/>
          </a:xfrm>
          <a:custGeom>
            <a:avLst/>
            <a:gdLst/>
            <a:ahLst/>
            <a:cxnLst/>
            <a:rect r="r" b="b" t="t" l="l"/>
            <a:pathLst>
              <a:path h="1610747" w="1629501">
                <a:moveTo>
                  <a:pt x="0" y="0"/>
                </a:moveTo>
                <a:lnTo>
                  <a:pt x="1629502" y="0"/>
                </a:lnTo>
                <a:lnTo>
                  <a:pt x="1629502" y="1610748"/>
                </a:lnTo>
                <a:lnTo>
                  <a:pt x="0" y="16107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33021" y="1028700"/>
            <a:ext cx="4026279" cy="1310371"/>
          </a:xfrm>
          <a:custGeom>
            <a:avLst/>
            <a:gdLst/>
            <a:ahLst/>
            <a:cxnLst/>
            <a:rect r="r" b="b" t="t" l="l"/>
            <a:pathLst>
              <a:path h="1310371" w="4026279">
                <a:moveTo>
                  <a:pt x="0" y="0"/>
                </a:moveTo>
                <a:lnTo>
                  <a:pt x="4026279" y="0"/>
                </a:lnTo>
                <a:lnTo>
                  <a:pt x="4026279" y="1310371"/>
                </a:lnTo>
                <a:lnTo>
                  <a:pt x="0" y="13103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866775"/>
            <a:ext cx="8312264" cy="277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132"/>
              </a:lnSpc>
            </a:pPr>
            <a:r>
              <a:rPr lang="en-US" b="true" sz="7951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ภาพรวม Dataset Scopus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6969" y="6338364"/>
            <a:ext cx="3733319" cy="85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  <a:spcBef>
                <a:spcPct val="0"/>
              </a:spcBef>
            </a:pPr>
            <a:r>
              <a:rPr lang="en-US" b="true" sz="2498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10 สาขาวิชาด้านคอมพิวเตอร์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33373" y="6338364"/>
            <a:ext cx="3064118" cy="41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  <a:spcBef>
                <a:spcPct val="0"/>
              </a:spcBef>
            </a:pPr>
            <a:r>
              <a:rPr lang="en-US" b="true" sz="2498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6,000 บทความรวม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40964" y="6338364"/>
            <a:ext cx="3241326" cy="85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  <a:spcBef>
                <a:spcPct val="0"/>
              </a:spcBef>
            </a:pPr>
            <a:r>
              <a:rPr lang="en-US" b="true" sz="2498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10 ไฟล์ CSV, 23 คอลัมน์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52511" y="6338364"/>
            <a:ext cx="2880989" cy="41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  <a:spcBef>
                <a:spcPct val="0"/>
              </a:spcBef>
            </a:pPr>
            <a:r>
              <a:rPr lang="en-US" b="true" sz="2498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สาขาที่วิเคราะห์หลัก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6969" y="7460423"/>
            <a:ext cx="3465149" cy="128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63"/>
              </a:lnSpc>
              <a:spcBef>
                <a:spcPct val="0"/>
              </a:spcBef>
            </a:pPr>
            <a:r>
              <a:rPr lang="en-US" sz="183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ครอบคลุม Software, AI, Computer Vision, Computer Graphics และสาขาอื่น ๆ อีก 6 สาขา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33373" y="7460423"/>
            <a:ext cx="3064118" cy="963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63"/>
              </a:lnSpc>
              <a:spcBef>
                <a:spcPct val="0"/>
              </a:spcBef>
            </a:pPr>
            <a:r>
              <a:rPr lang="en-US" sz="183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600 บทความต่อสาขา รวบรวมจากฐานข้อมูล Scopus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35353" y="7460423"/>
            <a:ext cx="2652548" cy="963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63"/>
              </a:lnSpc>
              <a:spcBef>
                <a:spcPct val="0"/>
              </a:spcBef>
            </a:pPr>
            <a:r>
              <a:rPr lang="en-US" sz="183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คอลัมน์หลัก เช่น Authors, Title, Year, Abstract, Keywords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966731" y="7460423"/>
            <a:ext cx="2652548" cy="128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63"/>
              </a:lnSpc>
              <a:spcBef>
                <a:spcPct val="0"/>
              </a:spcBef>
            </a:pPr>
            <a:r>
              <a:rPr lang="en-US" sz="183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Software, AI, Computer Vision, Computer Graphics &amp; Design และอื่น ๆ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47402" y="1578816"/>
            <a:ext cx="5311898" cy="7679484"/>
            <a:chOff x="0" y="0"/>
            <a:chExt cx="1399019" cy="20225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9018" cy="2022580"/>
            </a:xfrm>
            <a:custGeom>
              <a:avLst/>
              <a:gdLst/>
              <a:ahLst/>
              <a:cxnLst/>
              <a:rect r="r" b="b" t="t" l="l"/>
              <a:pathLst>
                <a:path h="2022580" w="1399018">
                  <a:moveTo>
                    <a:pt x="52469" y="0"/>
                  </a:moveTo>
                  <a:lnTo>
                    <a:pt x="1346550" y="0"/>
                  </a:lnTo>
                  <a:cubicBezTo>
                    <a:pt x="1360465" y="0"/>
                    <a:pt x="1373811" y="5528"/>
                    <a:pt x="1383651" y="15368"/>
                  </a:cubicBezTo>
                  <a:cubicBezTo>
                    <a:pt x="1393491" y="25208"/>
                    <a:pt x="1399018" y="38553"/>
                    <a:pt x="1399018" y="52469"/>
                  </a:cubicBezTo>
                  <a:lnTo>
                    <a:pt x="1399018" y="1970111"/>
                  </a:lnTo>
                  <a:cubicBezTo>
                    <a:pt x="1399018" y="1984027"/>
                    <a:pt x="1393491" y="1997372"/>
                    <a:pt x="1383651" y="2007212"/>
                  </a:cubicBezTo>
                  <a:cubicBezTo>
                    <a:pt x="1373811" y="2017052"/>
                    <a:pt x="1360465" y="2022580"/>
                    <a:pt x="1346550" y="2022580"/>
                  </a:cubicBezTo>
                  <a:lnTo>
                    <a:pt x="52469" y="2022580"/>
                  </a:lnTo>
                  <a:cubicBezTo>
                    <a:pt x="38553" y="2022580"/>
                    <a:pt x="25208" y="2017052"/>
                    <a:pt x="15368" y="2007212"/>
                  </a:cubicBezTo>
                  <a:cubicBezTo>
                    <a:pt x="5528" y="1997372"/>
                    <a:pt x="0" y="1984027"/>
                    <a:pt x="0" y="1970111"/>
                  </a:cubicBezTo>
                  <a:lnTo>
                    <a:pt x="0" y="52469"/>
                  </a:lnTo>
                  <a:cubicBezTo>
                    <a:pt x="0" y="38553"/>
                    <a:pt x="5528" y="25208"/>
                    <a:pt x="15368" y="15368"/>
                  </a:cubicBezTo>
                  <a:cubicBezTo>
                    <a:pt x="25208" y="5528"/>
                    <a:pt x="38553" y="0"/>
                    <a:pt x="52469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99019" cy="206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568771" y="2096758"/>
            <a:ext cx="1152885" cy="994322"/>
          </a:xfrm>
          <a:custGeom>
            <a:avLst/>
            <a:gdLst/>
            <a:ahLst/>
            <a:cxnLst/>
            <a:rect r="r" b="b" t="t" l="l"/>
            <a:pathLst>
              <a:path h="994322" w="1152885">
                <a:moveTo>
                  <a:pt x="0" y="0"/>
                </a:moveTo>
                <a:lnTo>
                  <a:pt x="1152885" y="0"/>
                </a:lnTo>
                <a:lnTo>
                  <a:pt x="1152885" y="994322"/>
                </a:lnTo>
                <a:lnTo>
                  <a:pt x="0" y="994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494144" y="3816910"/>
            <a:ext cx="1361395" cy="1201597"/>
          </a:xfrm>
          <a:custGeom>
            <a:avLst/>
            <a:gdLst/>
            <a:ahLst/>
            <a:cxnLst/>
            <a:rect r="r" b="b" t="t" l="l"/>
            <a:pathLst>
              <a:path h="1201597" w="1361395">
                <a:moveTo>
                  <a:pt x="0" y="0"/>
                </a:moveTo>
                <a:lnTo>
                  <a:pt x="1361394" y="0"/>
                </a:lnTo>
                <a:lnTo>
                  <a:pt x="1361394" y="1201597"/>
                </a:lnTo>
                <a:lnTo>
                  <a:pt x="0" y="12015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699874" y="5944606"/>
            <a:ext cx="895652" cy="969565"/>
          </a:xfrm>
          <a:custGeom>
            <a:avLst/>
            <a:gdLst/>
            <a:ahLst/>
            <a:cxnLst/>
            <a:rect r="r" b="b" t="t" l="l"/>
            <a:pathLst>
              <a:path h="969565" w="895652">
                <a:moveTo>
                  <a:pt x="0" y="0"/>
                </a:moveTo>
                <a:lnTo>
                  <a:pt x="895652" y="0"/>
                </a:lnTo>
                <a:lnTo>
                  <a:pt x="895652" y="969565"/>
                </a:lnTo>
                <a:lnTo>
                  <a:pt x="0" y="9695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743906" y="7701284"/>
            <a:ext cx="851361" cy="969905"/>
          </a:xfrm>
          <a:custGeom>
            <a:avLst/>
            <a:gdLst/>
            <a:ahLst/>
            <a:cxnLst/>
            <a:rect r="r" b="b" t="t" l="l"/>
            <a:pathLst>
              <a:path h="969905" w="851361">
                <a:moveTo>
                  <a:pt x="0" y="0"/>
                </a:moveTo>
                <a:lnTo>
                  <a:pt x="851362" y="0"/>
                </a:lnTo>
                <a:lnTo>
                  <a:pt x="851362" y="969905"/>
                </a:lnTo>
                <a:lnTo>
                  <a:pt x="0" y="969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17110" y="5295508"/>
            <a:ext cx="3653399" cy="3776123"/>
          </a:xfrm>
          <a:custGeom>
            <a:avLst/>
            <a:gdLst/>
            <a:ahLst/>
            <a:cxnLst/>
            <a:rect r="r" b="b" t="t" l="l"/>
            <a:pathLst>
              <a:path h="3776123" w="3653399">
                <a:moveTo>
                  <a:pt x="0" y="0"/>
                </a:moveTo>
                <a:lnTo>
                  <a:pt x="3653399" y="0"/>
                </a:lnTo>
                <a:lnTo>
                  <a:pt x="3653399" y="3776122"/>
                </a:lnTo>
                <a:lnTo>
                  <a:pt x="0" y="37761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847725"/>
            <a:ext cx="8312264" cy="169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0"/>
              </a:lnSpc>
            </a:pPr>
            <a:r>
              <a:rPr lang="en-US" b="true" sz="9992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การสำรวจ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9980" y="2434298"/>
            <a:ext cx="8014680" cy="1613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202"/>
              </a:lnSpc>
            </a:pPr>
            <a:r>
              <a:rPr lang="en-US" b="true" sz="9430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ข้อมูลเบื้องต้น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76936" y="2029726"/>
            <a:ext cx="3733319" cy="41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  <a:r>
              <a:rPr lang="en-US" b="true" sz="2498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ชนิดข้อมูล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76936" y="3799665"/>
            <a:ext cx="3733319" cy="41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  <a:r>
              <a:rPr lang="en-US" b="true" sz="2498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Missing Values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76936" y="5571316"/>
            <a:ext cx="3733319" cy="41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  <a:r>
              <a:rPr lang="en-US" b="true" sz="2498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EID ซ้ำ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76936" y="7342966"/>
            <a:ext cx="3733319" cy="41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  <a:r>
              <a:rPr lang="en-US" b="true" sz="2498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ข้อมูลครบถ้วน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76936" y="2559952"/>
            <a:ext cx="4147352" cy="77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49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Year และ Cited by เป็นตัวเลข (int64) คอลัมน์อื่น ๆ เป็นข้อความ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76936" y="4329891"/>
            <a:ext cx="4147352" cy="77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49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Missing Values สูงสุดที่คอลัมน์ Page start/end สูงถึง 74%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76936" y="6101541"/>
            <a:ext cx="4147352" cy="77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49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พบ EID ซ้ำ 295 รายการ แต่ไม่มีแถวที่ซ้ำกันทั้งหมด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76936" y="7873191"/>
            <a:ext cx="4147352" cy="77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49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คอลัมน์ Title และ Abstract ไม่มีค่า Missing ทุกบทความ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5657320" y="4865380"/>
            <a:ext cx="3776383" cy="3055437"/>
          </a:xfrm>
          <a:custGeom>
            <a:avLst/>
            <a:gdLst/>
            <a:ahLst/>
            <a:cxnLst/>
            <a:rect r="r" b="b" t="t" l="l"/>
            <a:pathLst>
              <a:path h="3055437" w="3776383">
                <a:moveTo>
                  <a:pt x="0" y="0"/>
                </a:moveTo>
                <a:lnTo>
                  <a:pt x="3776383" y="0"/>
                </a:lnTo>
                <a:lnTo>
                  <a:pt x="3776383" y="3055436"/>
                </a:lnTo>
                <a:lnTo>
                  <a:pt x="0" y="30554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08983" y="3305392"/>
            <a:ext cx="14222338" cy="5952908"/>
            <a:chOff x="0" y="0"/>
            <a:chExt cx="3745801" cy="15678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45801" cy="1567844"/>
            </a:xfrm>
            <a:custGeom>
              <a:avLst/>
              <a:gdLst/>
              <a:ahLst/>
              <a:cxnLst/>
              <a:rect r="r" b="b" t="t" l="l"/>
              <a:pathLst>
                <a:path h="1567844" w="3745801">
                  <a:moveTo>
                    <a:pt x="19597" y="0"/>
                  </a:moveTo>
                  <a:lnTo>
                    <a:pt x="3726204" y="0"/>
                  </a:lnTo>
                  <a:cubicBezTo>
                    <a:pt x="3731402" y="0"/>
                    <a:pt x="3736386" y="2065"/>
                    <a:pt x="3740061" y="5740"/>
                  </a:cubicBezTo>
                  <a:cubicBezTo>
                    <a:pt x="3743736" y="9415"/>
                    <a:pt x="3745801" y="14399"/>
                    <a:pt x="3745801" y="19597"/>
                  </a:cubicBezTo>
                  <a:lnTo>
                    <a:pt x="3745801" y="1548248"/>
                  </a:lnTo>
                  <a:cubicBezTo>
                    <a:pt x="3745801" y="1553445"/>
                    <a:pt x="3743736" y="1558429"/>
                    <a:pt x="3740061" y="1562104"/>
                  </a:cubicBezTo>
                  <a:cubicBezTo>
                    <a:pt x="3736386" y="1565780"/>
                    <a:pt x="3731402" y="1567844"/>
                    <a:pt x="3726204" y="1567844"/>
                  </a:cubicBezTo>
                  <a:lnTo>
                    <a:pt x="19597" y="1567844"/>
                  </a:lnTo>
                  <a:cubicBezTo>
                    <a:pt x="8774" y="1567844"/>
                    <a:pt x="0" y="1559070"/>
                    <a:pt x="0" y="1548248"/>
                  </a:cubicBezTo>
                  <a:lnTo>
                    <a:pt x="0" y="19597"/>
                  </a:lnTo>
                  <a:cubicBezTo>
                    <a:pt x="0" y="14399"/>
                    <a:pt x="2065" y="9415"/>
                    <a:pt x="5740" y="5740"/>
                  </a:cubicBezTo>
                  <a:cubicBezTo>
                    <a:pt x="9415" y="2065"/>
                    <a:pt x="14399" y="0"/>
                    <a:pt x="19597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45801" cy="1605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15037" y="1576578"/>
            <a:ext cx="2614487" cy="2614487"/>
          </a:xfrm>
          <a:custGeom>
            <a:avLst/>
            <a:gdLst/>
            <a:ahLst/>
            <a:cxnLst/>
            <a:rect r="r" b="b" t="t" l="l"/>
            <a:pathLst>
              <a:path h="2614487" w="2614487">
                <a:moveTo>
                  <a:pt x="0" y="0"/>
                </a:moveTo>
                <a:lnTo>
                  <a:pt x="2614487" y="0"/>
                </a:lnTo>
                <a:lnTo>
                  <a:pt x="2614487" y="2614486"/>
                </a:lnTo>
                <a:lnTo>
                  <a:pt x="0" y="2614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105429" y="7479716"/>
            <a:ext cx="2614487" cy="2614487"/>
          </a:xfrm>
          <a:custGeom>
            <a:avLst/>
            <a:gdLst/>
            <a:ahLst/>
            <a:cxnLst/>
            <a:rect r="r" b="b" t="t" l="l"/>
            <a:pathLst>
              <a:path h="2614487" w="2614487">
                <a:moveTo>
                  <a:pt x="2614487" y="0"/>
                </a:moveTo>
                <a:lnTo>
                  <a:pt x="0" y="0"/>
                </a:lnTo>
                <a:lnTo>
                  <a:pt x="0" y="2614487"/>
                </a:lnTo>
                <a:lnTo>
                  <a:pt x="2614487" y="2614487"/>
                </a:lnTo>
                <a:lnTo>
                  <a:pt x="261448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2665" y="2399264"/>
            <a:ext cx="1179232" cy="969114"/>
          </a:xfrm>
          <a:custGeom>
            <a:avLst/>
            <a:gdLst/>
            <a:ahLst/>
            <a:cxnLst/>
            <a:rect r="r" b="b" t="t" l="l"/>
            <a:pathLst>
              <a:path h="969114" w="1179232">
                <a:moveTo>
                  <a:pt x="0" y="0"/>
                </a:moveTo>
                <a:lnTo>
                  <a:pt x="1179232" y="0"/>
                </a:lnTo>
                <a:lnTo>
                  <a:pt x="1179232" y="969114"/>
                </a:lnTo>
                <a:lnTo>
                  <a:pt x="0" y="969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61306" y="8365348"/>
            <a:ext cx="1302732" cy="843223"/>
          </a:xfrm>
          <a:custGeom>
            <a:avLst/>
            <a:gdLst/>
            <a:ahLst/>
            <a:cxnLst/>
            <a:rect r="r" b="b" t="t" l="l"/>
            <a:pathLst>
              <a:path h="843223" w="1302732">
                <a:moveTo>
                  <a:pt x="0" y="0"/>
                </a:moveTo>
                <a:lnTo>
                  <a:pt x="1302733" y="0"/>
                </a:lnTo>
                <a:lnTo>
                  <a:pt x="1302733" y="843223"/>
                </a:lnTo>
                <a:lnTo>
                  <a:pt x="0" y="8432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810166" y="412229"/>
            <a:ext cx="1919435" cy="1661184"/>
          </a:xfrm>
          <a:custGeom>
            <a:avLst/>
            <a:gdLst/>
            <a:ahLst/>
            <a:cxnLst/>
            <a:rect r="r" b="b" t="t" l="l"/>
            <a:pathLst>
              <a:path h="1661184" w="1919435">
                <a:moveTo>
                  <a:pt x="0" y="0"/>
                </a:moveTo>
                <a:lnTo>
                  <a:pt x="1919435" y="0"/>
                </a:lnTo>
                <a:lnTo>
                  <a:pt x="1919435" y="1661184"/>
                </a:lnTo>
                <a:lnTo>
                  <a:pt x="0" y="16611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66045" y="1576578"/>
            <a:ext cx="1693255" cy="969773"/>
          </a:xfrm>
          <a:custGeom>
            <a:avLst/>
            <a:gdLst/>
            <a:ahLst/>
            <a:cxnLst/>
            <a:rect r="r" b="b" t="t" l="l"/>
            <a:pathLst>
              <a:path h="969773" w="1693255">
                <a:moveTo>
                  <a:pt x="0" y="0"/>
                </a:moveTo>
                <a:lnTo>
                  <a:pt x="1693255" y="0"/>
                </a:lnTo>
                <a:lnTo>
                  <a:pt x="1693255" y="969773"/>
                </a:lnTo>
                <a:lnTo>
                  <a:pt x="0" y="9697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998696" y="914400"/>
            <a:ext cx="8312264" cy="938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14"/>
              </a:lnSpc>
            </a:pPr>
            <a:r>
              <a:rPr lang="en-US" b="true" sz="5439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การทำความสะอาด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29342" y="2052894"/>
            <a:ext cx="7581618" cy="938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14"/>
              </a:lnSpc>
            </a:pPr>
            <a:r>
              <a:rPr lang="en-US" b="true" sz="5439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ข้อมูล (Data Cleaning)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29524" y="3981291"/>
            <a:ext cx="12858518" cy="4582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4"/>
              </a:lnSpc>
            </a:pPr>
            <a:r>
              <a:rPr lang="en-US" b="true" sz="3724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6 ขั้นตอนหลักในการทำความสะอาดข้อมูล:</a:t>
            </a:r>
          </a:p>
          <a:p>
            <a:pPr algn="l" marL="804178" indent="-402089" lvl="1">
              <a:lnSpc>
                <a:spcPts val="5214"/>
              </a:lnSpc>
              <a:buFont typeface="Arial"/>
              <a:buChar char="•"/>
            </a:pPr>
            <a:r>
              <a:rPr lang="en-US" sz="3724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สร้างคอลัมน์ Subject จากชื่อไฟล์ CSV</a:t>
            </a:r>
          </a:p>
          <a:p>
            <a:pPr algn="l" marL="804178" indent="-402089" lvl="1">
              <a:lnSpc>
                <a:spcPts val="5214"/>
              </a:lnSpc>
              <a:buFont typeface="Arial"/>
              <a:buChar char="•"/>
            </a:pPr>
            <a:r>
              <a:rPr lang="en-US" sz="3724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ลบบทความที่มีมากกว่า 1 Subject ออก</a:t>
            </a:r>
          </a:p>
          <a:p>
            <a:pPr algn="l" marL="804178" indent="-402089" lvl="1">
              <a:lnSpc>
                <a:spcPts val="5214"/>
              </a:lnSpc>
              <a:buFont typeface="Arial"/>
              <a:buChar char="•"/>
            </a:pPr>
            <a:r>
              <a:rPr lang="en-US" sz="3724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ลบ Title ที่ซ้ำกันออกจากชุดข้อมูล</a:t>
            </a:r>
          </a:p>
          <a:p>
            <a:pPr algn="l" marL="804178" indent="-402089" lvl="1">
              <a:lnSpc>
                <a:spcPts val="5214"/>
              </a:lnSpc>
              <a:buFont typeface="Arial"/>
              <a:buChar char="•"/>
            </a:pPr>
            <a:r>
              <a:rPr lang="en-US" sz="3724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จัดการ Missing Values ใน Abstract ด้วย fillna และ strip</a:t>
            </a:r>
          </a:p>
          <a:p>
            <a:pPr algn="l" marL="804178" indent="-402089" lvl="1">
              <a:lnSpc>
                <a:spcPts val="5214"/>
              </a:lnSpc>
              <a:buFont typeface="Arial"/>
              <a:buChar char="•"/>
            </a:pPr>
            <a:r>
              <a:rPr lang="en-US" sz="3724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ตัดข้อความ Copyright/License ที่ปรากฏใน Abstract</a:t>
            </a:r>
          </a:p>
          <a:p>
            <a:pPr algn="l" marL="804178" indent="-402089" lvl="1">
              <a:lnSpc>
                <a:spcPts val="5214"/>
              </a:lnSpc>
              <a:buFont typeface="Arial"/>
              <a:buChar char="•"/>
            </a:pPr>
            <a:r>
              <a:rPr lang="en-US" sz="3724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กรองเฉพาะบทความภาษาอังกฤษด้วย langdetect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26094" y="3583745"/>
            <a:ext cx="9761898" cy="4271753"/>
            <a:chOff x="0" y="0"/>
            <a:chExt cx="2357325" cy="10315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7325" cy="1031552"/>
            </a:xfrm>
            <a:custGeom>
              <a:avLst/>
              <a:gdLst/>
              <a:ahLst/>
              <a:cxnLst/>
              <a:rect r="r" b="b" t="t" l="l"/>
              <a:pathLst>
                <a:path h="1031552" w="2357325">
                  <a:moveTo>
                    <a:pt x="28551" y="0"/>
                  </a:moveTo>
                  <a:lnTo>
                    <a:pt x="2328774" y="0"/>
                  </a:lnTo>
                  <a:cubicBezTo>
                    <a:pt x="2344542" y="0"/>
                    <a:pt x="2357325" y="12783"/>
                    <a:pt x="2357325" y="28551"/>
                  </a:cubicBezTo>
                  <a:lnTo>
                    <a:pt x="2357325" y="1003002"/>
                  </a:lnTo>
                  <a:cubicBezTo>
                    <a:pt x="2357325" y="1010574"/>
                    <a:pt x="2354317" y="1017836"/>
                    <a:pt x="2348962" y="1023190"/>
                  </a:cubicBezTo>
                  <a:cubicBezTo>
                    <a:pt x="2343608" y="1028544"/>
                    <a:pt x="2336346" y="1031552"/>
                    <a:pt x="2328774" y="1031552"/>
                  </a:cubicBezTo>
                  <a:lnTo>
                    <a:pt x="28551" y="1031552"/>
                  </a:lnTo>
                  <a:cubicBezTo>
                    <a:pt x="12783" y="1031552"/>
                    <a:pt x="0" y="1018770"/>
                    <a:pt x="0" y="1003002"/>
                  </a:cubicBezTo>
                  <a:lnTo>
                    <a:pt x="0" y="28551"/>
                  </a:lnTo>
                  <a:cubicBezTo>
                    <a:pt x="0" y="20979"/>
                    <a:pt x="3008" y="13717"/>
                    <a:pt x="8362" y="8362"/>
                  </a:cubicBezTo>
                  <a:cubicBezTo>
                    <a:pt x="13717" y="3008"/>
                    <a:pt x="20979" y="0"/>
                    <a:pt x="28551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57325" cy="1069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64830" y="4713232"/>
            <a:ext cx="6261264" cy="4273313"/>
          </a:xfrm>
          <a:custGeom>
            <a:avLst/>
            <a:gdLst/>
            <a:ahLst/>
            <a:cxnLst/>
            <a:rect r="r" b="b" t="t" l="l"/>
            <a:pathLst>
              <a:path h="4273313" w="6261264">
                <a:moveTo>
                  <a:pt x="0" y="0"/>
                </a:moveTo>
                <a:lnTo>
                  <a:pt x="6261264" y="0"/>
                </a:lnTo>
                <a:lnTo>
                  <a:pt x="6261264" y="4273313"/>
                </a:lnTo>
                <a:lnTo>
                  <a:pt x="0" y="427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741649" y="0"/>
            <a:ext cx="2546351" cy="2546351"/>
          </a:xfrm>
          <a:custGeom>
            <a:avLst/>
            <a:gdLst/>
            <a:ahLst/>
            <a:cxnLst/>
            <a:rect r="r" b="b" t="t" l="l"/>
            <a:pathLst>
              <a:path h="2546351" w="2546351">
                <a:moveTo>
                  <a:pt x="0" y="0"/>
                </a:moveTo>
                <a:lnTo>
                  <a:pt x="2546351" y="0"/>
                </a:lnTo>
                <a:lnTo>
                  <a:pt x="2546351" y="2546351"/>
                </a:lnTo>
                <a:lnTo>
                  <a:pt x="0" y="25463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14400"/>
            <a:ext cx="8312264" cy="97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07"/>
              </a:lnSpc>
            </a:pPr>
            <a:r>
              <a:rPr lang="en-US" b="true" sz="5648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ผลกระทบจาก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1059" y="2079685"/>
            <a:ext cx="7929906" cy="97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07"/>
              </a:lnSpc>
            </a:pPr>
            <a:r>
              <a:rPr lang="en-US" b="true" sz="5648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การทำความสะอาดข้อมูล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47006" y="4150819"/>
            <a:ext cx="9293303" cy="3070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2"/>
              </a:lnSpc>
              <a:spcBef>
                <a:spcPct val="0"/>
              </a:spcBef>
            </a:pPr>
            <a:r>
              <a:rPr lang="en-US" sz="353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จำนวนบทความลดลงจาก 6,000 บทความ เหลือ 5,342 บทความ (ลดลง 11%) โดยมีการลบบทความและแถวซ้ำรวมทั้งสิ้น 658 แถว ซึ่งประกอบด้วยบทความที่มีมากกว่า 1 สาขา, Title ซ้ำ และบทความที่ไม่ใช่ภาษาอังกฤษ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41649" y="0"/>
            <a:ext cx="2546351" cy="2546351"/>
          </a:xfrm>
          <a:custGeom>
            <a:avLst/>
            <a:gdLst/>
            <a:ahLst/>
            <a:cxnLst/>
            <a:rect r="r" b="b" t="t" l="l"/>
            <a:pathLst>
              <a:path h="2546351" w="2546351">
                <a:moveTo>
                  <a:pt x="0" y="0"/>
                </a:moveTo>
                <a:lnTo>
                  <a:pt x="2546351" y="0"/>
                </a:lnTo>
                <a:lnTo>
                  <a:pt x="2546351" y="2546351"/>
                </a:lnTo>
                <a:lnTo>
                  <a:pt x="0" y="25463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385360"/>
            <a:ext cx="16230600" cy="6872940"/>
          </a:xfrm>
          <a:custGeom>
            <a:avLst/>
            <a:gdLst/>
            <a:ahLst/>
            <a:cxnLst/>
            <a:rect r="r" b="b" t="t" l="l"/>
            <a:pathLst>
              <a:path h="6872940" w="16230600">
                <a:moveTo>
                  <a:pt x="0" y="0"/>
                </a:moveTo>
                <a:lnTo>
                  <a:pt x="16230600" y="0"/>
                </a:lnTo>
                <a:lnTo>
                  <a:pt x="16230600" y="6872940"/>
                </a:lnTo>
                <a:lnTo>
                  <a:pt x="0" y="6872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14400"/>
            <a:ext cx="12621746" cy="97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07"/>
              </a:lnSpc>
            </a:pPr>
            <a:r>
              <a:rPr lang="en-US" b="true" sz="5648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กราฟข้อมูลดิบ - หลังทำความสะอาดข้อมูล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41649" y="0"/>
            <a:ext cx="2546351" cy="2546351"/>
          </a:xfrm>
          <a:custGeom>
            <a:avLst/>
            <a:gdLst/>
            <a:ahLst/>
            <a:cxnLst/>
            <a:rect r="r" b="b" t="t" l="l"/>
            <a:pathLst>
              <a:path h="2546351" w="2546351">
                <a:moveTo>
                  <a:pt x="0" y="0"/>
                </a:moveTo>
                <a:lnTo>
                  <a:pt x="2546351" y="0"/>
                </a:lnTo>
                <a:lnTo>
                  <a:pt x="2546351" y="2546351"/>
                </a:lnTo>
                <a:lnTo>
                  <a:pt x="0" y="25463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776661"/>
            <a:ext cx="16230600" cy="5159012"/>
          </a:xfrm>
          <a:custGeom>
            <a:avLst/>
            <a:gdLst/>
            <a:ahLst/>
            <a:cxnLst/>
            <a:rect r="r" b="b" t="t" l="l"/>
            <a:pathLst>
              <a:path h="5159012" w="16230600">
                <a:moveTo>
                  <a:pt x="0" y="0"/>
                </a:moveTo>
                <a:lnTo>
                  <a:pt x="16230600" y="0"/>
                </a:lnTo>
                <a:lnTo>
                  <a:pt x="16230600" y="5159012"/>
                </a:lnTo>
                <a:lnTo>
                  <a:pt x="0" y="51590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14400"/>
            <a:ext cx="13669999" cy="197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07"/>
              </a:lnSpc>
            </a:pPr>
            <a:r>
              <a:rPr lang="en-US" sz="5648" b="true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ความสมบูรณ์ของข้อมูล (Missing Values)</a:t>
            </a:r>
          </a:p>
          <a:p>
            <a:pPr algn="l" marL="0" indent="0" lvl="0">
              <a:lnSpc>
                <a:spcPts val="7907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890415"/>
            <a:ext cx="15739914" cy="539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7"/>
              </a:lnSpc>
              <a:spcBef>
                <a:spcPct val="0"/>
              </a:spcBef>
            </a:pPr>
            <a:r>
              <a:rPr lang="en-US" b="true" sz="3148">
                <a:solidFill>
                  <a:srgbClr val="6B728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สัดส่วนค่าว่าง (missing) ในคอลัมน์ข้อความหลักทั้ง 4 คอลัมน์ จากข้อมูลดิบก่อนทำความสะอาด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51381" y="8164273"/>
            <a:ext cx="15663444" cy="1843054"/>
            <a:chOff x="0" y="0"/>
            <a:chExt cx="20884592" cy="245740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0884592" cy="2214508"/>
              <a:chOff x="0" y="0"/>
              <a:chExt cx="4439037" cy="47069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439037" cy="470695"/>
              </a:xfrm>
              <a:custGeom>
                <a:avLst/>
                <a:gdLst/>
                <a:ahLst/>
                <a:cxnLst/>
                <a:rect r="r" b="b" t="t" l="l"/>
                <a:pathLst>
                  <a:path h="470695" w="4439037">
                    <a:moveTo>
                      <a:pt x="17794" y="0"/>
                    </a:moveTo>
                    <a:lnTo>
                      <a:pt x="4421243" y="0"/>
                    </a:lnTo>
                    <a:cubicBezTo>
                      <a:pt x="4431070" y="0"/>
                      <a:pt x="4439037" y="7966"/>
                      <a:pt x="4439037" y="17794"/>
                    </a:cubicBezTo>
                    <a:lnTo>
                      <a:pt x="4439037" y="452902"/>
                    </a:lnTo>
                    <a:cubicBezTo>
                      <a:pt x="4439037" y="457621"/>
                      <a:pt x="4437162" y="462147"/>
                      <a:pt x="4433825" y="465484"/>
                    </a:cubicBezTo>
                    <a:cubicBezTo>
                      <a:pt x="4430488" y="468821"/>
                      <a:pt x="4425962" y="470695"/>
                      <a:pt x="4421243" y="470695"/>
                    </a:cubicBezTo>
                    <a:lnTo>
                      <a:pt x="17794" y="470695"/>
                    </a:lnTo>
                    <a:cubicBezTo>
                      <a:pt x="13074" y="470695"/>
                      <a:pt x="8549" y="468821"/>
                      <a:pt x="5212" y="465484"/>
                    </a:cubicBezTo>
                    <a:cubicBezTo>
                      <a:pt x="1875" y="462147"/>
                      <a:pt x="0" y="457621"/>
                      <a:pt x="0" y="452902"/>
                    </a:cubicBezTo>
                    <a:lnTo>
                      <a:pt x="0" y="17794"/>
                    </a:lnTo>
                    <a:cubicBezTo>
                      <a:pt x="0" y="13074"/>
                      <a:pt x="1875" y="8549"/>
                      <a:pt x="5212" y="5212"/>
                    </a:cubicBezTo>
                    <a:cubicBezTo>
                      <a:pt x="8549" y="1875"/>
                      <a:pt x="13074" y="0"/>
                      <a:pt x="17794" y="0"/>
                    </a:cubicBezTo>
                    <a:close/>
                  </a:path>
                </a:pathLst>
              </a:custGeom>
              <a:solidFill>
                <a:srgbClr val="D1FAE5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4439037" cy="5087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536863" y="-57150"/>
              <a:ext cx="19810867" cy="25145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19"/>
                </a:lnSpc>
                <a:spcBef>
                  <a:spcPct val="0"/>
                </a:spcBef>
              </a:pPr>
              <a:r>
                <a:rPr lang="en-US" sz="2728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สัดส่วนข้อมูลที่มีค่าหายไปในแต่ละคอลัมน์ ได้แก่ T</a:t>
              </a:r>
              <a:r>
                <a:rPr lang="en-US" sz="2728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itle, Abstract, Author Keywords และ Index Keywords โดยพบว่า Title และ Abstract ไม่มีค่าหายไป ขณะที่ Author Keywords มีค่าหายไปประมาณ 8% และ Index Keywords มีค่าหายไปประมาณ 13% ซึ่งเป็นคอลัมน์ที่มี Missing Values มากที่สุด</a:t>
              </a:r>
            </a:p>
            <a:p>
              <a:pPr algn="l" marL="0" indent="0" lvl="0">
                <a:lnSpc>
                  <a:spcPts val="381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82682" y="8314024"/>
            <a:ext cx="14316564" cy="1609531"/>
            <a:chOff x="0" y="0"/>
            <a:chExt cx="4057329" cy="4561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57329" cy="456143"/>
            </a:xfrm>
            <a:custGeom>
              <a:avLst/>
              <a:gdLst/>
              <a:ahLst/>
              <a:cxnLst/>
              <a:rect r="r" b="b" t="t" l="l"/>
              <a:pathLst>
                <a:path h="456143" w="4057329">
                  <a:moveTo>
                    <a:pt x="19468" y="0"/>
                  </a:moveTo>
                  <a:lnTo>
                    <a:pt x="4037862" y="0"/>
                  </a:lnTo>
                  <a:cubicBezTo>
                    <a:pt x="4048614" y="0"/>
                    <a:pt x="4057329" y="8716"/>
                    <a:pt x="4057329" y="19468"/>
                  </a:cubicBezTo>
                  <a:lnTo>
                    <a:pt x="4057329" y="436675"/>
                  </a:lnTo>
                  <a:cubicBezTo>
                    <a:pt x="4057329" y="441838"/>
                    <a:pt x="4055278" y="446790"/>
                    <a:pt x="4051627" y="450441"/>
                  </a:cubicBezTo>
                  <a:cubicBezTo>
                    <a:pt x="4047977" y="454092"/>
                    <a:pt x="4043025" y="456143"/>
                    <a:pt x="4037862" y="456143"/>
                  </a:cubicBezTo>
                  <a:lnTo>
                    <a:pt x="19468" y="456143"/>
                  </a:lnTo>
                  <a:cubicBezTo>
                    <a:pt x="14304" y="456143"/>
                    <a:pt x="9353" y="454092"/>
                    <a:pt x="5702" y="450441"/>
                  </a:cubicBezTo>
                  <a:cubicBezTo>
                    <a:pt x="2051" y="446790"/>
                    <a:pt x="0" y="441838"/>
                    <a:pt x="0" y="436675"/>
                  </a:cubicBezTo>
                  <a:lnTo>
                    <a:pt x="0" y="19468"/>
                  </a:lnTo>
                  <a:cubicBezTo>
                    <a:pt x="0" y="14304"/>
                    <a:pt x="2051" y="9353"/>
                    <a:pt x="5702" y="5702"/>
                  </a:cubicBezTo>
                  <a:cubicBezTo>
                    <a:pt x="9353" y="2051"/>
                    <a:pt x="14304" y="0"/>
                    <a:pt x="19468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57329" cy="494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756817" y="3246214"/>
            <a:ext cx="5801007" cy="4839455"/>
          </a:xfrm>
          <a:custGeom>
            <a:avLst/>
            <a:gdLst/>
            <a:ahLst/>
            <a:cxnLst/>
            <a:rect r="r" b="b" t="t" l="l"/>
            <a:pathLst>
              <a:path h="4839455" w="5801007">
                <a:moveTo>
                  <a:pt x="0" y="0"/>
                </a:moveTo>
                <a:lnTo>
                  <a:pt x="5801007" y="0"/>
                </a:lnTo>
                <a:lnTo>
                  <a:pt x="5801007" y="4839455"/>
                </a:lnTo>
                <a:lnTo>
                  <a:pt x="0" y="48394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03582" y="3246214"/>
            <a:ext cx="5764655" cy="4830420"/>
          </a:xfrm>
          <a:custGeom>
            <a:avLst/>
            <a:gdLst/>
            <a:ahLst/>
            <a:cxnLst/>
            <a:rect r="r" b="b" t="t" l="l"/>
            <a:pathLst>
              <a:path h="4830420" w="5764655">
                <a:moveTo>
                  <a:pt x="0" y="0"/>
                </a:moveTo>
                <a:lnTo>
                  <a:pt x="5764655" y="0"/>
                </a:lnTo>
                <a:lnTo>
                  <a:pt x="5764655" y="4830419"/>
                </a:lnTo>
                <a:lnTo>
                  <a:pt x="0" y="4830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14400"/>
            <a:ext cx="8312264" cy="938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14"/>
              </a:lnSpc>
            </a:pPr>
            <a:r>
              <a:rPr lang="en-US" b="true" sz="5439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การกระจาย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1059" y="2079685"/>
            <a:ext cx="8492523" cy="938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14"/>
              </a:lnSpc>
            </a:pPr>
            <a:r>
              <a:rPr lang="en-US" b="true" sz="5439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ความยาว Title &amp; Abstract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50706" y="8379068"/>
            <a:ext cx="13580517" cy="1422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19"/>
              </a:lnSpc>
              <a:spcBef>
                <a:spcPct val="0"/>
              </a:spcBef>
            </a:pPr>
            <a:r>
              <a:rPr lang="en-US" sz="2728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Histogram แสดงว่า Title มีความยาวเฉลี่ย 9–15 คำ ส่วน Abstract มีความยาวเฉลี่ย 150–300 คำ นอกจากนี้ยังวิเคราะห์ความยาวเฉลี่ยของ Title และ Abstract แยกตามสาขาวิชา เพื่อเปรียบเทียบรูปแบบการเขียนในแต่ละสาขา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10720" y="3098320"/>
            <a:ext cx="6308953" cy="5292126"/>
          </a:xfrm>
          <a:custGeom>
            <a:avLst/>
            <a:gdLst/>
            <a:ahLst/>
            <a:cxnLst/>
            <a:rect r="r" b="b" t="t" l="l"/>
            <a:pathLst>
              <a:path h="5292126" w="6308953">
                <a:moveTo>
                  <a:pt x="0" y="0"/>
                </a:moveTo>
                <a:lnTo>
                  <a:pt x="6308953" y="0"/>
                </a:lnTo>
                <a:lnTo>
                  <a:pt x="6308953" y="5292126"/>
                </a:lnTo>
                <a:lnTo>
                  <a:pt x="0" y="52921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" t="0" r="-2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79307" y="3098320"/>
            <a:ext cx="6297973" cy="5292126"/>
          </a:xfrm>
          <a:custGeom>
            <a:avLst/>
            <a:gdLst/>
            <a:ahLst/>
            <a:cxnLst/>
            <a:rect r="r" b="b" t="t" l="l"/>
            <a:pathLst>
              <a:path h="5292126" w="6297973">
                <a:moveTo>
                  <a:pt x="0" y="0"/>
                </a:moveTo>
                <a:lnTo>
                  <a:pt x="6297973" y="0"/>
                </a:lnTo>
                <a:lnTo>
                  <a:pt x="6297973" y="5292126"/>
                </a:lnTo>
                <a:lnTo>
                  <a:pt x="0" y="52921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49161" y="914400"/>
            <a:ext cx="8492523" cy="93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14"/>
              </a:lnSpc>
            </a:pPr>
            <a:r>
              <a:rPr lang="en-US" b="true" sz="5439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สถิติ Keywords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34099" y="1785844"/>
            <a:ext cx="16210115" cy="109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7"/>
              </a:lnSpc>
              <a:spcBef>
                <a:spcPct val="0"/>
              </a:spcBef>
            </a:pPr>
            <a:r>
              <a:rPr lang="en-US" b="true" sz="3148">
                <a:solidFill>
                  <a:srgbClr val="6B728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จำน</a:t>
            </a:r>
            <a:r>
              <a:rPr lang="en-US" b="true" sz="3148">
                <a:solidFill>
                  <a:srgbClr val="6B728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วน Author Keywords และ Index Keywords ต่อบทความ พร้อมสัดส่วนบทความที่ไม่มี keyword แยกตามสาขา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46086" y="8443946"/>
            <a:ext cx="15086811" cy="1609531"/>
            <a:chOff x="0" y="0"/>
            <a:chExt cx="4275618" cy="4561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5618" cy="456143"/>
            </a:xfrm>
            <a:custGeom>
              <a:avLst/>
              <a:gdLst/>
              <a:ahLst/>
              <a:cxnLst/>
              <a:rect r="r" b="b" t="t" l="l"/>
              <a:pathLst>
                <a:path h="456143" w="4275618">
                  <a:moveTo>
                    <a:pt x="18474" y="0"/>
                  </a:moveTo>
                  <a:lnTo>
                    <a:pt x="4257144" y="0"/>
                  </a:lnTo>
                  <a:cubicBezTo>
                    <a:pt x="4267347" y="0"/>
                    <a:pt x="4275618" y="8271"/>
                    <a:pt x="4275618" y="18474"/>
                  </a:cubicBezTo>
                  <a:lnTo>
                    <a:pt x="4275618" y="437669"/>
                  </a:lnTo>
                  <a:cubicBezTo>
                    <a:pt x="4275618" y="447872"/>
                    <a:pt x="4267347" y="456143"/>
                    <a:pt x="4257144" y="456143"/>
                  </a:cubicBezTo>
                  <a:lnTo>
                    <a:pt x="18474" y="456143"/>
                  </a:lnTo>
                  <a:cubicBezTo>
                    <a:pt x="8271" y="456143"/>
                    <a:pt x="0" y="447872"/>
                    <a:pt x="0" y="437669"/>
                  </a:cubicBezTo>
                  <a:lnTo>
                    <a:pt x="0" y="18474"/>
                  </a:lnTo>
                  <a:cubicBezTo>
                    <a:pt x="0" y="8271"/>
                    <a:pt x="8271" y="0"/>
                    <a:pt x="18474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75618" cy="494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121347" y="8386796"/>
            <a:ext cx="14711549" cy="1900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19"/>
              </a:lnSpc>
              <a:spcBef>
                <a:spcPct val="0"/>
              </a:spcBef>
            </a:pPr>
            <a:r>
              <a:rPr lang="en-US" sz="2728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การกระจายจำนวน Keyw</a:t>
            </a:r>
            <a:r>
              <a:rPr lang="en-US" sz="2728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ords ของแต่ละบทความ โดย Author Keywords ซึ่งเป็นคำสำคัญที่ผู้เขียนกำหนดเอง มีจำนวนแตกต่างกันค่อนข้างมาก และมีบทความจำนวนหนึ่งที่ไม่มี Author Keywords ขณะที่ Index Keywords ซึ่งมาจากระบบจัดทำดัชนีของ Scopus มีจำนวนต่อบทความสูงกว่าอย่างชัดเจน</a:t>
            </a:r>
          </a:p>
          <a:p>
            <a:pPr algn="l" marL="0" indent="0" lvl="0">
              <a:lnSpc>
                <a:spcPts val="38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90823" y="1995804"/>
            <a:ext cx="6860800" cy="5644962"/>
          </a:xfrm>
          <a:custGeom>
            <a:avLst/>
            <a:gdLst/>
            <a:ahLst/>
            <a:cxnLst/>
            <a:rect r="r" b="b" t="t" l="l"/>
            <a:pathLst>
              <a:path h="5644962" w="6860800">
                <a:moveTo>
                  <a:pt x="0" y="0"/>
                </a:moveTo>
                <a:lnTo>
                  <a:pt x="6860800" y="0"/>
                </a:lnTo>
                <a:lnTo>
                  <a:pt x="6860800" y="5644962"/>
                </a:lnTo>
                <a:lnTo>
                  <a:pt x="0" y="5644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14400"/>
            <a:ext cx="8492523" cy="93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14"/>
              </a:lnSpc>
            </a:pPr>
            <a:r>
              <a:rPr lang="en-US" b="true" sz="5439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สถิติ Keywords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943585" y="7783641"/>
            <a:ext cx="15155277" cy="1900513"/>
            <a:chOff x="0" y="0"/>
            <a:chExt cx="4295022" cy="5386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95022" cy="538607"/>
            </a:xfrm>
            <a:custGeom>
              <a:avLst/>
              <a:gdLst/>
              <a:ahLst/>
              <a:cxnLst/>
              <a:rect r="r" b="b" t="t" l="l"/>
              <a:pathLst>
                <a:path h="538607" w="4295022">
                  <a:moveTo>
                    <a:pt x="18390" y="0"/>
                  </a:moveTo>
                  <a:lnTo>
                    <a:pt x="4276631" y="0"/>
                  </a:lnTo>
                  <a:cubicBezTo>
                    <a:pt x="4286788" y="0"/>
                    <a:pt x="4295022" y="8234"/>
                    <a:pt x="4295022" y="18390"/>
                  </a:cubicBezTo>
                  <a:lnTo>
                    <a:pt x="4295022" y="520217"/>
                  </a:lnTo>
                  <a:cubicBezTo>
                    <a:pt x="4295022" y="530374"/>
                    <a:pt x="4286788" y="538607"/>
                    <a:pt x="4276631" y="538607"/>
                  </a:cubicBezTo>
                  <a:lnTo>
                    <a:pt x="18390" y="538607"/>
                  </a:lnTo>
                  <a:cubicBezTo>
                    <a:pt x="8234" y="538607"/>
                    <a:pt x="0" y="530374"/>
                    <a:pt x="0" y="520217"/>
                  </a:cubicBezTo>
                  <a:lnTo>
                    <a:pt x="0" y="18390"/>
                  </a:lnTo>
                  <a:cubicBezTo>
                    <a:pt x="0" y="8234"/>
                    <a:pt x="8234" y="0"/>
                    <a:pt x="18390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95022" cy="57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243131" y="7726491"/>
            <a:ext cx="14711549" cy="236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19"/>
              </a:lnSpc>
              <a:spcBef>
                <a:spcPct val="0"/>
              </a:spcBef>
            </a:pPr>
            <a:r>
              <a:rPr lang="en-US" sz="2728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เปรียบเทียบจำนวน Author Keywords และ Index Keyw</a:t>
            </a:r>
            <a:r>
              <a:rPr lang="en-US" sz="2728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ords เฉลี่ยของแต่ละสาขาวิชา พบว่า Author Keywords มีความแตกต่างระหว่างสาขาไม่มากนัก โดยมีค่าเฉลี่ยประมาณ 4.4–5.9 คำต่อบทความ ในขณะที่ Index Keywords มีความแตกต่างมากกว่า โดย ComNetworks มีค่าเฉลี่ยสูงที่สุดประมาณ 24.89 คำ และ ComMath ต่ำที่สุดประมาณ 16.02 คำ</a:t>
            </a:r>
          </a:p>
          <a:p>
            <a:pPr algn="l" marL="0" indent="0" lvl="0">
              <a:lnSpc>
                <a:spcPts val="38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21300" y="1852519"/>
            <a:ext cx="6799845" cy="5652140"/>
          </a:xfrm>
          <a:custGeom>
            <a:avLst/>
            <a:gdLst/>
            <a:ahLst/>
            <a:cxnLst/>
            <a:rect r="r" b="b" t="t" l="l"/>
            <a:pathLst>
              <a:path h="5652140" w="6799845">
                <a:moveTo>
                  <a:pt x="0" y="0"/>
                </a:moveTo>
                <a:lnTo>
                  <a:pt x="6799846" y="0"/>
                </a:lnTo>
                <a:lnTo>
                  <a:pt x="6799846" y="5652140"/>
                </a:lnTo>
                <a:lnTo>
                  <a:pt x="0" y="5652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14400"/>
            <a:ext cx="10034603" cy="938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14"/>
              </a:lnSpc>
            </a:pPr>
            <a:r>
              <a:rPr lang="en-US" b="true" sz="5439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สัดส่วนบทความที่ไม่มี Keywords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977818" y="7686931"/>
            <a:ext cx="15086811" cy="1900513"/>
            <a:chOff x="0" y="0"/>
            <a:chExt cx="4275618" cy="5386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5618" cy="538607"/>
            </a:xfrm>
            <a:custGeom>
              <a:avLst/>
              <a:gdLst/>
              <a:ahLst/>
              <a:cxnLst/>
              <a:rect r="r" b="b" t="t" l="l"/>
              <a:pathLst>
                <a:path h="538607" w="4275618">
                  <a:moveTo>
                    <a:pt x="18474" y="0"/>
                  </a:moveTo>
                  <a:lnTo>
                    <a:pt x="4257144" y="0"/>
                  </a:lnTo>
                  <a:cubicBezTo>
                    <a:pt x="4267347" y="0"/>
                    <a:pt x="4275618" y="8271"/>
                    <a:pt x="4275618" y="18474"/>
                  </a:cubicBezTo>
                  <a:lnTo>
                    <a:pt x="4275618" y="520134"/>
                  </a:lnTo>
                  <a:cubicBezTo>
                    <a:pt x="4275618" y="530336"/>
                    <a:pt x="4267347" y="538607"/>
                    <a:pt x="4257144" y="538607"/>
                  </a:cubicBezTo>
                  <a:lnTo>
                    <a:pt x="18474" y="538607"/>
                  </a:lnTo>
                  <a:cubicBezTo>
                    <a:pt x="8271" y="538607"/>
                    <a:pt x="0" y="530336"/>
                    <a:pt x="0" y="520134"/>
                  </a:cubicBezTo>
                  <a:lnTo>
                    <a:pt x="0" y="18474"/>
                  </a:lnTo>
                  <a:cubicBezTo>
                    <a:pt x="0" y="8271"/>
                    <a:pt x="8271" y="0"/>
                    <a:pt x="18474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5618" cy="576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65449" y="7687239"/>
            <a:ext cx="14711549" cy="1900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19"/>
              </a:lnSpc>
              <a:spcBef>
                <a:spcPct val="0"/>
              </a:spcBef>
            </a:pPr>
            <a:r>
              <a:rPr lang="en-US" sz="2728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เปรียบเทียบสัดส่วนบทความที่ไม่มี Author Keywords และ Index Keyw</a:t>
            </a:r>
            <a:r>
              <a:rPr lang="en-US" sz="2728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ords ในแต่ละสาขาวิชา พบว่าสาขา AI มีอัตราการไม่มี Keywords สูงเมื่อเปรียบเทียบกับหลายสาขา โดย Author Keywords ไม่มีข้อมูลประมาณ 24.4% และ Index Keywords ประมาณ 23.6% ในขณะที่บางสาขามีอัตราการไม่มี Keywords ต่ำกว่ามาก</a:t>
            </a:r>
          </a:p>
          <a:p>
            <a:pPr algn="l" marL="0" indent="0" lvl="0">
              <a:lnSpc>
                <a:spcPts val="38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8586" y="2905386"/>
            <a:ext cx="16200714" cy="5884754"/>
          </a:xfrm>
          <a:custGeom>
            <a:avLst/>
            <a:gdLst/>
            <a:ahLst/>
            <a:cxnLst/>
            <a:rect r="r" b="b" t="t" l="l"/>
            <a:pathLst>
              <a:path h="5884754" w="16200714">
                <a:moveTo>
                  <a:pt x="0" y="0"/>
                </a:moveTo>
                <a:lnTo>
                  <a:pt x="16200714" y="0"/>
                </a:lnTo>
                <a:lnTo>
                  <a:pt x="16200714" y="5884754"/>
                </a:lnTo>
                <a:lnTo>
                  <a:pt x="0" y="588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58586" y="914400"/>
            <a:ext cx="9494186" cy="1900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14"/>
              </a:lnSpc>
            </a:pPr>
            <a:r>
              <a:rPr lang="en-US" sz="5439" b="true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คำที่พบบ่อย (Word Explorer)</a:t>
            </a:r>
          </a:p>
          <a:p>
            <a:pPr algn="l" marL="0" indent="0" lvl="0">
              <a:lnSpc>
                <a:spcPts val="7614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274043" y="2046085"/>
            <a:ext cx="15152936" cy="539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7"/>
              </a:lnSpc>
              <a:spcBef>
                <a:spcPct val="0"/>
              </a:spcBef>
            </a:pPr>
            <a:r>
              <a:rPr lang="en-US" b="true" sz="3148">
                <a:solidFill>
                  <a:srgbClr val="6B728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เลือก</a:t>
            </a:r>
            <a:r>
              <a:rPr lang="en-US" b="true" sz="3148">
                <a:solidFill>
                  <a:srgbClr val="6B728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สาขาวิชาเพื่อดู word cloud และคำ/keyword ที่พบบ่อยที่สุดในแต่ละคอลัมน์ข้อความ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235174"/>
            <a:ext cx="16230600" cy="4934787"/>
          </a:xfrm>
          <a:custGeom>
            <a:avLst/>
            <a:gdLst/>
            <a:ahLst/>
            <a:cxnLst/>
            <a:rect r="r" b="b" t="t" l="l"/>
            <a:pathLst>
              <a:path h="4934787" w="16230600">
                <a:moveTo>
                  <a:pt x="0" y="0"/>
                </a:moveTo>
                <a:lnTo>
                  <a:pt x="16230600" y="0"/>
                </a:lnTo>
                <a:lnTo>
                  <a:pt x="16230600" y="4934787"/>
                </a:lnTo>
                <a:lnTo>
                  <a:pt x="0" y="4934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14400"/>
            <a:ext cx="9494186" cy="1900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14"/>
              </a:lnSpc>
            </a:pPr>
            <a:r>
              <a:rPr lang="en-US" sz="5439" b="true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คำที่พบบ่อย (Word Explorer)</a:t>
            </a:r>
          </a:p>
          <a:p>
            <a:pPr algn="l" marL="0" indent="0" lvl="0">
              <a:lnSpc>
                <a:spcPts val="7614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69912" y="2274000"/>
            <a:ext cx="11194003" cy="5136771"/>
          </a:xfrm>
          <a:custGeom>
            <a:avLst/>
            <a:gdLst/>
            <a:ahLst/>
            <a:cxnLst/>
            <a:rect r="r" b="b" t="t" l="l"/>
            <a:pathLst>
              <a:path h="5136771" w="11194003">
                <a:moveTo>
                  <a:pt x="0" y="0"/>
                </a:moveTo>
                <a:lnTo>
                  <a:pt x="11194003" y="0"/>
                </a:lnTo>
                <a:lnTo>
                  <a:pt x="11194003" y="5136771"/>
                </a:lnTo>
                <a:lnTo>
                  <a:pt x="0" y="5136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14400"/>
            <a:ext cx="9494186" cy="1900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14"/>
              </a:lnSpc>
            </a:pPr>
            <a:r>
              <a:rPr lang="en-US" sz="5439" b="true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คำที่พบบ่อย (Word Explorer)</a:t>
            </a:r>
          </a:p>
          <a:p>
            <a:pPr algn="l" marL="0" indent="0" lvl="0">
              <a:lnSpc>
                <a:spcPts val="7614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989275" y="7772514"/>
            <a:ext cx="15155277" cy="1078917"/>
            <a:chOff x="0" y="0"/>
            <a:chExt cx="4295022" cy="3057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95022" cy="305766"/>
            </a:xfrm>
            <a:custGeom>
              <a:avLst/>
              <a:gdLst/>
              <a:ahLst/>
              <a:cxnLst/>
              <a:rect r="r" b="b" t="t" l="l"/>
              <a:pathLst>
                <a:path h="305766" w="4295022">
                  <a:moveTo>
                    <a:pt x="18390" y="0"/>
                  </a:moveTo>
                  <a:lnTo>
                    <a:pt x="4276631" y="0"/>
                  </a:lnTo>
                  <a:cubicBezTo>
                    <a:pt x="4286788" y="0"/>
                    <a:pt x="4295022" y="8234"/>
                    <a:pt x="4295022" y="18390"/>
                  </a:cubicBezTo>
                  <a:lnTo>
                    <a:pt x="4295022" y="287376"/>
                  </a:lnTo>
                  <a:cubicBezTo>
                    <a:pt x="4295022" y="297533"/>
                    <a:pt x="4286788" y="305766"/>
                    <a:pt x="4276631" y="305766"/>
                  </a:cubicBezTo>
                  <a:lnTo>
                    <a:pt x="18390" y="305766"/>
                  </a:lnTo>
                  <a:cubicBezTo>
                    <a:pt x="8234" y="305766"/>
                    <a:pt x="0" y="297533"/>
                    <a:pt x="0" y="287376"/>
                  </a:cubicBezTo>
                  <a:lnTo>
                    <a:pt x="0" y="18390"/>
                  </a:lnTo>
                  <a:cubicBezTo>
                    <a:pt x="0" y="8234"/>
                    <a:pt x="8234" y="0"/>
                    <a:pt x="18390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95022" cy="343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288821" y="7715364"/>
            <a:ext cx="14711549" cy="141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19"/>
              </a:lnSpc>
              <a:spcBef>
                <a:spcPct val="0"/>
              </a:spcBef>
            </a:pPr>
            <a:r>
              <a:rPr lang="en-US" sz="2728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วิเคราะห์คำที่ปรากฏบ่อยที่สุดใน Title และ Abst</a:t>
            </a:r>
            <a:r>
              <a:rPr lang="en-US" sz="2728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ract ของบทความทั้งหมด โดยใน Title คำว่า “learning” พบมากที่สุดจำนวน 646 ครั้ง ส่วนใน Abstract พบคำว่า “learning” จำนวน 3,325 ครั้ง </a:t>
            </a:r>
          </a:p>
          <a:p>
            <a:pPr algn="l" marL="0" indent="0" lvl="0">
              <a:lnSpc>
                <a:spcPts val="38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56220" y="2088414"/>
            <a:ext cx="12775560" cy="5864376"/>
          </a:xfrm>
          <a:custGeom>
            <a:avLst/>
            <a:gdLst/>
            <a:ahLst/>
            <a:cxnLst/>
            <a:rect r="r" b="b" t="t" l="l"/>
            <a:pathLst>
              <a:path h="5864376" w="12775560">
                <a:moveTo>
                  <a:pt x="0" y="0"/>
                </a:moveTo>
                <a:lnTo>
                  <a:pt x="12775560" y="0"/>
                </a:lnTo>
                <a:lnTo>
                  <a:pt x="12775560" y="5864375"/>
                </a:lnTo>
                <a:lnTo>
                  <a:pt x="0" y="58643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14400"/>
            <a:ext cx="11231466" cy="1900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14"/>
              </a:lnSpc>
            </a:pPr>
            <a:r>
              <a:rPr lang="en-US" sz="5439" b="true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คำสำคัญที่พบบ่อย (Word Explorer)</a:t>
            </a:r>
          </a:p>
          <a:p>
            <a:pPr algn="l" marL="0" indent="0" lvl="0">
              <a:lnSpc>
                <a:spcPts val="7614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715409" y="8114845"/>
            <a:ext cx="15155277" cy="1489715"/>
            <a:chOff x="0" y="0"/>
            <a:chExt cx="4295022" cy="4221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95022" cy="422187"/>
            </a:xfrm>
            <a:custGeom>
              <a:avLst/>
              <a:gdLst/>
              <a:ahLst/>
              <a:cxnLst/>
              <a:rect r="r" b="b" t="t" l="l"/>
              <a:pathLst>
                <a:path h="422187" w="4295022">
                  <a:moveTo>
                    <a:pt x="18390" y="0"/>
                  </a:moveTo>
                  <a:lnTo>
                    <a:pt x="4276631" y="0"/>
                  </a:lnTo>
                  <a:cubicBezTo>
                    <a:pt x="4286788" y="0"/>
                    <a:pt x="4295022" y="8234"/>
                    <a:pt x="4295022" y="18390"/>
                  </a:cubicBezTo>
                  <a:lnTo>
                    <a:pt x="4295022" y="403797"/>
                  </a:lnTo>
                  <a:cubicBezTo>
                    <a:pt x="4295022" y="413953"/>
                    <a:pt x="4286788" y="422187"/>
                    <a:pt x="4276631" y="422187"/>
                  </a:cubicBezTo>
                  <a:lnTo>
                    <a:pt x="18390" y="422187"/>
                  </a:lnTo>
                  <a:cubicBezTo>
                    <a:pt x="8234" y="422187"/>
                    <a:pt x="0" y="413953"/>
                    <a:pt x="0" y="403797"/>
                  </a:cubicBezTo>
                  <a:lnTo>
                    <a:pt x="0" y="18390"/>
                  </a:lnTo>
                  <a:cubicBezTo>
                    <a:pt x="0" y="8234"/>
                    <a:pt x="8234" y="0"/>
                    <a:pt x="18390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95022" cy="46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014956" y="8057695"/>
            <a:ext cx="14711549" cy="1892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19"/>
              </a:lnSpc>
              <a:spcBef>
                <a:spcPct val="0"/>
              </a:spcBef>
            </a:pPr>
            <a:r>
              <a:rPr lang="en-US" sz="2728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การวิเคราะห์ความถี่ของคำใน Author Keywords และ Index Keywords เพื่อแสดงคำสำคัญที่ปรากฏบ่อยที่สุดในชุด</a:t>
            </a:r>
            <a:r>
              <a:rPr lang="en-US" sz="2728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ข้อมูล โดย Author Keywords พบคำว่า “deep learning” มากที่สุด จำนวน 374 ครั้ง ความสำคัญ ส่วน Index Keywords พบคำ เช่น “deep learning”, “human” และ “article” ในความถี่สูง </a:t>
            </a:r>
          </a:p>
          <a:p>
            <a:pPr algn="l" marL="0" indent="0" lvl="0">
              <a:lnSpc>
                <a:spcPts val="38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77518" y="1439049"/>
            <a:ext cx="5735129" cy="8291354"/>
            <a:chOff x="0" y="0"/>
            <a:chExt cx="1399019" cy="20225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9018" cy="2022580"/>
            </a:xfrm>
            <a:custGeom>
              <a:avLst/>
              <a:gdLst/>
              <a:ahLst/>
              <a:cxnLst/>
              <a:rect r="r" b="b" t="t" l="l"/>
              <a:pathLst>
                <a:path h="2022580" w="1399018">
                  <a:moveTo>
                    <a:pt x="48597" y="0"/>
                  </a:moveTo>
                  <a:lnTo>
                    <a:pt x="1350422" y="0"/>
                  </a:lnTo>
                  <a:cubicBezTo>
                    <a:pt x="1363310" y="0"/>
                    <a:pt x="1375671" y="5120"/>
                    <a:pt x="1384785" y="14234"/>
                  </a:cubicBezTo>
                  <a:cubicBezTo>
                    <a:pt x="1393898" y="23347"/>
                    <a:pt x="1399018" y="35708"/>
                    <a:pt x="1399018" y="48597"/>
                  </a:cubicBezTo>
                  <a:lnTo>
                    <a:pt x="1399018" y="1973983"/>
                  </a:lnTo>
                  <a:cubicBezTo>
                    <a:pt x="1399018" y="1986872"/>
                    <a:pt x="1393898" y="1999233"/>
                    <a:pt x="1384785" y="2008346"/>
                  </a:cubicBezTo>
                  <a:cubicBezTo>
                    <a:pt x="1375671" y="2017460"/>
                    <a:pt x="1363310" y="2022580"/>
                    <a:pt x="1350422" y="2022580"/>
                  </a:cubicBezTo>
                  <a:lnTo>
                    <a:pt x="48597" y="2022580"/>
                  </a:lnTo>
                  <a:cubicBezTo>
                    <a:pt x="35708" y="2022580"/>
                    <a:pt x="23347" y="2017460"/>
                    <a:pt x="14234" y="2008346"/>
                  </a:cubicBezTo>
                  <a:cubicBezTo>
                    <a:pt x="5120" y="1999233"/>
                    <a:pt x="0" y="1986872"/>
                    <a:pt x="0" y="1973983"/>
                  </a:cubicBezTo>
                  <a:lnTo>
                    <a:pt x="0" y="48597"/>
                  </a:lnTo>
                  <a:cubicBezTo>
                    <a:pt x="0" y="35708"/>
                    <a:pt x="5120" y="23347"/>
                    <a:pt x="14234" y="14234"/>
                  </a:cubicBezTo>
                  <a:cubicBezTo>
                    <a:pt x="23347" y="5120"/>
                    <a:pt x="35708" y="0"/>
                    <a:pt x="48597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99019" cy="206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637076" y="2075972"/>
            <a:ext cx="1015616" cy="1054542"/>
          </a:xfrm>
          <a:custGeom>
            <a:avLst/>
            <a:gdLst/>
            <a:ahLst/>
            <a:cxnLst/>
            <a:rect r="r" b="b" t="t" l="l"/>
            <a:pathLst>
              <a:path h="1054542" w="1015616">
                <a:moveTo>
                  <a:pt x="0" y="0"/>
                </a:moveTo>
                <a:lnTo>
                  <a:pt x="1015616" y="0"/>
                </a:lnTo>
                <a:lnTo>
                  <a:pt x="1015616" y="1054542"/>
                </a:lnTo>
                <a:lnTo>
                  <a:pt x="0" y="10545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53957" y="4002203"/>
            <a:ext cx="1029374" cy="1125972"/>
          </a:xfrm>
          <a:custGeom>
            <a:avLst/>
            <a:gdLst/>
            <a:ahLst/>
            <a:cxnLst/>
            <a:rect r="r" b="b" t="t" l="l"/>
            <a:pathLst>
              <a:path h="1125972" w="1029374">
                <a:moveTo>
                  <a:pt x="0" y="0"/>
                </a:moveTo>
                <a:lnTo>
                  <a:pt x="1029374" y="0"/>
                </a:lnTo>
                <a:lnTo>
                  <a:pt x="1029374" y="1125971"/>
                </a:lnTo>
                <a:lnTo>
                  <a:pt x="0" y="11259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620135" y="5918828"/>
            <a:ext cx="1048198" cy="1017569"/>
          </a:xfrm>
          <a:custGeom>
            <a:avLst/>
            <a:gdLst/>
            <a:ahLst/>
            <a:cxnLst/>
            <a:rect r="r" b="b" t="t" l="l"/>
            <a:pathLst>
              <a:path h="1017569" w="1048198">
                <a:moveTo>
                  <a:pt x="0" y="0"/>
                </a:moveTo>
                <a:lnTo>
                  <a:pt x="1048197" y="0"/>
                </a:lnTo>
                <a:lnTo>
                  <a:pt x="1048197" y="1017569"/>
                </a:lnTo>
                <a:lnTo>
                  <a:pt x="0" y="10175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606090" y="7740303"/>
            <a:ext cx="1042131" cy="926338"/>
          </a:xfrm>
          <a:custGeom>
            <a:avLst/>
            <a:gdLst/>
            <a:ahLst/>
            <a:cxnLst/>
            <a:rect r="r" b="b" t="t" l="l"/>
            <a:pathLst>
              <a:path h="926338" w="1042131">
                <a:moveTo>
                  <a:pt x="0" y="0"/>
                </a:moveTo>
                <a:lnTo>
                  <a:pt x="1042131" y="0"/>
                </a:lnTo>
                <a:lnTo>
                  <a:pt x="1042131" y="926338"/>
                </a:lnTo>
                <a:lnTo>
                  <a:pt x="0" y="9263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96960" y="5311677"/>
            <a:ext cx="5607289" cy="3876038"/>
          </a:xfrm>
          <a:custGeom>
            <a:avLst/>
            <a:gdLst/>
            <a:ahLst/>
            <a:cxnLst/>
            <a:rect r="r" b="b" t="t" l="l"/>
            <a:pathLst>
              <a:path h="3876038" w="5607289">
                <a:moveTo>
                  <a:pt x="0" y="0"/>
                </a:moveTo>
                <a:lnTo>
                  <a:pt x="5607288" y="0"/>
                </a:lnTo>
                <a:lnTo>
                  <a:pt x="5607288" y="3876039"/>
                </a:lnTo>
                <a:lnTo>
                  <a:pt x="0" y="38760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876300"/>
            <a:ext cx="8312264" cy="1327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39"/>
              </a:lnSpc>
            </a:pPr>
            <a:r>
              <a:rPr lang="en-US" b="true" sz="7742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การเตรียมข้อมูล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11059" y="2041585"/>
            <a:ext cx="8492523" cy="1327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39"/>
              </a:lnSpc>
            </a:pPr>
            <a:r>
              <a:rPr lang="en-US" b="true" sz="7742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Text Embedding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41277" y="1919397"/>
            <a:ext cx="4030774" cy="452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2697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คอลัมน์ที่เลือกใช้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41277" y="3830357"/>
            <a:ext cx="4030774" cy="452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2697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สร้าง embedding_text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41277" y="5743165"/>
            <a:ext cx="4030774" cy="452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2697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โมเดลที่ใช้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41277" y="7655974"/>
            <a:ext cx="4030774" cy="452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76"/>
              </a:lnSpc>
              <a:spcBef>
                <a:spcPct val="0"/>
              </a:spcBef>
            </a:pPr>
            <a:r>
              <a:rPr lang="en-US" b="true" sz="2697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การประมวลผล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41277" y="2511677"/>
            <a:ext cx="4477796" cy="724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5"/>
              </a:lnSpc>
              <a:spcBef>
                <a:spcPct val="0"/>
              </a:spcBef>
            </a:pPr>
            <a:r>
              <a:rPr lang="en-US" sz="2118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EID, Title, Abstract, Author Keywords, Index Keywords, Subject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41277" y="4422638"/>
            <a:ext cx="4477796" cy="724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5"/>
              </a:lnSpc>
              <a:spcBef>
                <a:spcPct val="0"/>
              </a:spcBef>
            </a:pPr>
            <a:r>
              <a:rPr lang="en-US" sz="2118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รวม 4 คอลัมน์หลักด้วยตัวคั่น [SEP] เพื่อสร้าง embedding_text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41277" y="6335446"/>
            <a:ext cx="4477796" cy="724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5"/>
              </a:lnSpc>
              <a:spcBef>
                <a:spcPct val="0"/>
              </a:spcBef>
            </a:pPr>
            <a:r>
              <a:rPr lang="en-US" sz="2118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SPECTER2 พร้อม Proximity Adapter สำหรับงานด้านวิชาการ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41277" y="8248254"/>
            <a:ext cx="4477796" cy="724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5"/>
              </a:lnSpc>
              <a:spcBef>
                <a:spcPct val="0"/>
              </a:spcBef>
            </a:pPr>
            <a:r>
              <a:rPr lang="en-US" sz="2118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GPU T4 บน Google Colab, batch size 16, max_length 512 tokens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5657320" y="4865380"/>
            <a:ext cx="3776383" cy="3055437"/>
          </a:xfrm>
          <a:custGeom>
            <a:avLst/>
            <a:gdLst/>
            <a:ahLst/>
            <a:cxnLst/>
            <a:rect r="r" b="b" t="t" l="l"/>
            <a:pathLst>
              <a:path h="3055437" w="3776383">
                <a:moveTo>
                  <a:pt x="0" y="0"/>
                </a:moveTo>
                <a:lnTo>
                  <a:pt x="3776383" y="0"/>
                </a:lnTo>
                <a:lnTo>
                  <a:pt x="3776383" y="3055436"/>
                </a:lnTo>
                <a:lnTo>
                  <a:pt x="0" y="30554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63121" y="4368113"/>
            <a:ext cx="10783416" cy="4718764"/>
            <a:chOff x="0" y="0"/>
            <a:chExt cx="2357325" cy="10315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7325" cy="1031552"/>
            </a:xfrm>
            <a:custGeom>
              <a:avLst/>
              <a:gdLst/>
              <a:ahLst/>
              <a:cxnLst/>
              <a:rect r="r" b="b" t="t" l="l"/>
              <a:pathLst>
                <a:path h="1031552" w="2357325">
                  <a:moveTo>
                    <a:pt x="25846" y="0"/>
                  </a:moveTo>
                  <a:lnTo>
                    <a:pt x="2331479" y="0"/>
                  </a:lnTo>
                  <a:cubicBezTo>
                    <a:pt x="2345753" y="0"/>
                    <a:pt x="2357325" y="11572"/>
                    <a:pt x="2357325" y="25846"/>
                  </a:cubicBezTo>
                  <a:lnTo>
                    <a:pt x="2357325" y="1005706"/>
                  </a:lnTo>
                  <a:cubicBezTo>
                    <a:pt x="2357325" y="1019981"/>
                    <a:pt x="2345753" y="1031552"/>
                    <a:pt x="2331479" y="1031552"/>
                  </a:cubicBezTo>
                  <a:lnTo>
                    <a:pt x="25846" y="1031552"/>
                  </a:lnTo>
                  <a:cubicBezTo>
                    <a:pt x="11572" y="1031552"/>
                    <a:pt x="0" y="1019981"/>
                    <a:pt x="0" y="1005706"/>
                  </a:cubicBezTo>
                  <a:lnTo>
                    <a:pt x="0" y="25846"/>
                  </a:lnTo>
                  <a:cubicBezTo>
                    <a:pt x="0" y="11572"/>
                    <a:pt x="11572" y="0"/>
                    <a:pt x="25846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57325" cy="1069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791630" y="3448709"/>
            <a:ext cx="1942957" cy="1942957"/>
          </a:xfrm>
          <a:custGeom>
            <a:avLst/>
            <a:gdLst/>
            <a:ahLst/>
            <a:cxnLst/>
            <a:rect r="r" b="b" t="t" l="l"/>
            <a:pathLst>
              <a:path h="1942957" w="1942957">
                <a:moveTo>
                  <a:pt x="0" y="0"/>
                </a:moveTo>
                <a:lnTo>
                  <a:pt x="1942957" y="0"/>
                </a:lnTo>
                <a:lnTo>
                  <a:pt x="1942957" y="1942958"/>
                </a:lnTo>
                <a:lnTo>
                  <a:pt x="0" y="1942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3763631" y="8138827"/>
            <a:ext cx="1565812" cy="1565812"/>
          </a:xfrm>
          <a:custGeom>
            <a:avLst/>
            <a:gdLst/>
            <a:ahLst/>
            <a:cxnLst/>
            <a:rect r="r" b="b" t="t" l="l"/>
            <a:pathLst>
              <a:path h="1565812" w="1565812">
                <a:moveTo>
                  <a:pt x="1565811" y="0"/>
                </a:moveTo>
                <a:lnTo>
                  <a:pt x="0" y="0"/>
                </a:lnTo>
                <a:lnTo>
                  <a:pt x="0" y="1565812"/>
                </a:lnTo>
                <a:lnTo>
                  <a:pt x="1565811" y="1565812"/>
                </a:lnTo>
                <a:lnTo>
                  <a:pt x="156581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24935" y="4060089"/>
            <a:ext cx="876347" cy="720198"/>
          </a:xfrm>
          <a:custGeom>
            <a:avLst/>
            <a:gdLst/>
            <a:ahLst/>
            <a:cxnLst/>
            <a:rect r="r" b="b" t="t" l="l"/>
            <a:pathLst>
              <a:path h="720198" w="876347">
                <a:moveTo>
                  <a:pt x="0" y="0"/>
                </a:moveTo>
                <a:lnTo>
                  <a:pt x="876347" y="0"/>
                </a:lnTo>
                <a:lnTo>
                  <a:pt x="876347" y="720198"/>
                </a:lnTo>
                <a:lnTo>
                  <a:pt x="0" y="720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156434" y="8693787"/>
            <a:ext cx="780204" cy="505005"/>
          </a:xfrm>
          <a:custGeom>
            <a:avLst/>
            <a:gdLst/>
            <a:ahLst/>
            <a:cxnLst/>
            <a:rect r="r" b="b" t="t" l="l"/>
            <a:pathLst>
              <a:path h="505005" w="780204">
                <a:moveTo>
                  <a:pt x="0" y="0"/>
                </a:moveTo>
                <a:lnTo>
                  <a:pt x="780205" y="0"/>
                </a:lnTo>
                <a:lnTo>
                  <a:pt x="780205" y="505005"/>
                </a:lnTo>
                <a:lnTo>
                  <a:pt x="0" y="505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022281" y="1787525"/>
            <a:ext cx="1919435" cy="1661184"/>
          </a:xfrm>
          <a:custGeom>
            <a:avLst/>
            <a:gdLst/>
            <a:ahLst/>
            <a:cxnLst/>
            <a:rect r="r" b="b" t="t" l="l"/>
            <a:pathLst>
              <a:path h="1661184" w="1919435">
                <a:moveTo>
                  <a:pt x="0" y="0"/>
                </a:moveTo>
                <a:lnTo>
                  <a:pt x="1919435" y="0"/>
                </a:lnTo>
                <a:lnTo>
                  <a:pt x="1919435" y="1661184"/>
                </a:lnTo>
                <a:lnTo>
                  <a:pt x="0" y="16611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66045" y="1576578"/>
            <a:ext cx="1693255" cy="969773"/>
          </a:xfrm>
          <a:custGeom>
            <a:avLst/>
            <a:gdLst/>
            <a:ahLst/>
            <a:cxnLst/>
            <a:rect r="r" b="b" t="t" l="l"/>
            <a:pathLst>
              <a:path h="969773" w="1693255">
                <a:moveTo>
                  <a:pt x="0" y="0"/>
                </a:moveTo>
                <a:lnTo>
                  <a:pt x="1693255" y="0"/>
                </a:lnTo>
                <a:lnTo>
                  <a:pt x="1693255" y="969773"/>
                </a:lnTo>
                <a:lnTo>
                  <a:pt x="0" y="9697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998696" y="876300"/>
            <a:ext cx="8312264" cy="1294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45"/>
              </a:lnSpc>
            </a:pPr>
            <a:r>
              <a:rPr lang="en-US" b="true" sz="7532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 Vector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29342" y="2014794"/>
            <a:ext cx="7581618" cy="1294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45"/>
              </a:lnSpc>
            </a:pPr>
            <a:r>
              <a:rPr lang="en-US" b="true" sz="7532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และการแบ่งข้อมูล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34587" y="5115438"/>
            <a:ext cx="8866576" cy="302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15"/>
              </a:lnSpc>
              <a:spcBef>
                <a:spcPct val="0"/>
              </a:spcBef>
            </a:pPr>
            <a:r>
              <a:rPr lang="en-US" sz="2867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ขนาด Feature Vector: 5,342 แถว × 768 มิติ จากโมเดล SPECTER2</a:t>
            </a:r>
          </a:p>
          <a:p>
            <a:pPr algn="ctr" marL="0" indent="0" lvl="0">
              <a:lnSpc>
                <a:spcPts val="4015"/>
              </a:lnSpc>
              <a:spcBef>
                <a:spcPct val="0"/>
              </a:spcBef>
            </a:pPr>
            <a:r>
              <a:rPr lang="en-US" sz="2867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ใช้ L2-normalization เพื่อปรับขนาด Vector ให้เหมาะสม</a:t>
            </a:r>
          </a:p>
          <a:p>
            <a:pPr algn="ctr" marL="0" indent="0" lvl="0">
              <a:lnSpc>
                <a:spcPts val="4015"/>
              </a:lnSpc>
              <a:spcBef>
                <a:spcPct val="0"/>
              </a:spcBef>
            </a:pPr>
            <a:r>
              <a:rPr lang="en-US" sz="2867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แบ่งข้อมูลแบบ Stratified Sampling 80/20</a:t>
            </a:r>
          </a:p>
          <a:p>
            <a:pPr algn="ctr" marL="0" indent="0" lvl="0">
              <a:lnSpc>
                <a:spcPts val="4015"/>
              </a:lnSpc>
              <a:spcBef>
                <a:spcPct val="0"/>
              </a:spcBef>
            </a:pPr>
            <a:r>
              <a:rPr lang="en-US" sz="2867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→ Train set: 4,273 ตัวอย่าง</a:t>
            </a:r>
          </a:p>
          <a:p>
            <a:pPr algn="ctr" marL="0" indent="0" lvl="0">
              <a:lnSpc>
                <a:spcPts val="4015"/>
              </a:lnSpc>
              <a:spcBef>
                <a:spcPct val="0"/>
              </a:spcBef>
            </a:pPr>
            <a:r>
              <a:rPr lang="en-US" sz="2867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→ Test set: 1,069 ตัวอย่าง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363854"/>
            <a:ext cx="8208478" cy="5810671"/>
            <a:chOff x="0" y="0"/>
            <a:chExt cx="1955767" cy="13844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5767" cy="1384461"/>
            </a:xfrm>
            <a:custGeom>
              <a:avLst/>
              <a:gdLst/>
              <a:ahLst/>
              <a:cxnLst/>
              <a:rect r="r" b="b" t="t" l="l"/>
              <a:pathLst>
                <a:path h="1384461" w="1955767">
                  <a:moveTo>
                    <a:pt x="33954" y="0"/>
                  </a:moveTo>
                  <a:lnTo>
                    <a:pt x="1921813" y="0"/>
                  </a:lnTo>
                  <a:cubicBezTo>
                    <a:pt x="1930818" y="0"/>
                    <a:pt x="1939454" y="3577"/>
                    <a:pt x="1945822" y="9945"/>
                  </a:cubicBezTo>
                  <a:cubicBezTo>
                    <a:pt x="1952189" y="16312"/>
                    <a:pt x="1955767" y="24949"/>
                    <a:pt x="1955767" y="33954"/>
                  </a:cubicBezTo>
                  <a:lnTo>
                    <a:pt x="1955767" y="1350507"/>
                  </a:lnTo>
                  <a:cubicBezTo>
                    <a:pt x="1955767" y="1369259"/>
                    <a:pt x="1940565" y="1384461"/>
                    <a:pt x="1921813" y="1384461"/>
                  </a:cubicBezTo>
                  <a:lnTo>
                    <a:pt x="33954" y="1384461"/>
                  </a:lnTo>
                  <a:cubicBezTo>
                    <a:pt x="15202" y="1384461"/>
                    <a:pt x="0" y="1369259"/>
                    <a:pt x="0" y="1350507"/>
                  </a:cubicBezTo>
                  <a:lnTo>
                    <a:pt x="0" y="33954"/>
                  </a:lnTo>
                  <a:cubicBezTo>
                    <a:pt x="0" y="15202"/>
                    <a:pt x="15202" y="0"/>
                    <a:pt x="33954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55767" cy="1422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2546351" cy="2546351"/>
          </a:xfrm>
          <a:custGeom>
            <a:avLst/>
            <a:gdLst/>
            <a:ahLst/>
            <a:cxnLst/>
            <a:rect r="r" b="b" t="t" l="l"/>
            <a:pathLst>
              <a:path h="2546351" w="2546351">
                <a:moveTo>
                  <a:pt x="0" y="0"/>
                </a:moveTo>
                <a:lnTo>
                  <a:pt x="2546351" y="0"/>
                </a:lnTo>
                <a:lnTo>
                  <a:pt x="2546351" y="2546351"/>
                </a:lnTo>
                <a:lnTo>
                  <a:pt x="0" y="25463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718084" y="3730969"/>
            <a:ext cx="7907613" cy="5045129"/>
          </a:xfrm>
          <a:custGeom>
            <a:avLst/>
            <a:gdLst/>
            <a:ahLst/>
            <a:cxnLst/>
            <a:rect r="r" b="b" t="t" l="l"/>
            <a:pathLst>
              <a:path h="5045129" w="7907613">
                <a:moveTo>
                  <a:pt x="0" y="0"/>
                </a:moveTo>
                <a:lnTo>
                  <a:pt x="7907614" y="0"/>
                </a:lnTo>
                <a:lnTo>
                  <a:pt x="7907614" y="5045128"/>
                </a:lnTo>
                <a:lnTo>
                  <a:pt x="0" y="50451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14400"/>
            <a:ext cx="8312264" cy="1036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4"/>
              </a:lnSpc>
            </a:pPr>
            <a:r>
              <a:rPr lang="en-US" b="true" sz="6067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ผลการทดสอบ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1059" y="2079685"/>
            <a:ext cx="7929906" cy="1036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4"/>
              </a:lnSpc>
            </a:pPr>
            <a:r>
              <a:rPr lang="en-US" b="true" sz="6067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Logistic Regression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98029" y="3791668"/>
            <a:ext cx="6469820" cy="490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2"/>
              </a:lnSpc>
              <a:spcBef>
                <a:spcPct val="0"/>
              </a:spcBef>
            </a:pPr>
            <a:r>
              <a:rPr lang="en-US" sz="2544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b="true" sz="2544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Accuracy</a:t>
            </a:r>
            <a:r>
              <a:rPr lang="en-US" sz="2544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: 63.24%</a:t>
            </a:r>
          </a:p>
          <a:p>
            <a:pPr algn="l" marL="0" indent="0" lvl="0">
              <a:lnSpc>
                <a:spcPts val="3562"/>
              </a:lnSpc>
              <a:spcBef>
                <a:spcPct val="0"/>
              </a:spcBef>
            </a:pPr>
            <a:r>
              <a:rPr lang="en-US" sz="2544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b="true" sz="2544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F1-Score สูงสุด</a:t>
            </a:r>
            <a:r>
              <a:rPr lang="en-US" sz="2544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</a:p>
          <a:p>
            <a:pPr algn="l" marL="0" indent="0" lvl="0">
              <a:lnSpc>
                <a:spcPts val="3562"/>
              </a:lnSpc>
              <a:spcBef>
                <a:spcPct val="0"/>
              </a:spcBef>
            </a:pPr>
            <a:r>
              <a:rPr lang="en-US" sz="2544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Computational Mathematics (0.83), Computer Graphics &amp; Design (0.81)</a:t>
            </a:r>
          </a:p>
          <a:p>
            <a:pPr algn="l" marL="0" indent="0" lvl="0">
              <a:lnSpc>
                <a:spcPts val="3562"/>
              </a:lnSpc>
              <a:spcBef>
                <a:spcPct val="0"/>
              </a:spcBef>
            </a:pPr>
            <a:r>
              <a:rPr lang="en-US" sz="2544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b="true" sz="2544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F1-Score ต่ำสุด</a:t>
            </a:r>
            <a:r>
              <a:rPr lang="en-US" sz="2544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</a:p>
          <a:p>
            <a:pPr algn="l" marL="0" indent="0" lvl="0">
              <a:lnSpc>
                <a:spcPts val="3562"/>
              </a:lnSpc>
              <a:spcBef>
                <a:spcPct val="0"/>
              </a:spcBef>
            </a:pPr>
            <a:r>
              <a:rPr lang="en-US" sz="2544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CS Applications (0.29), </a:t>
            </a:r>
          </a:p>
          <a:p>
            <a:pPr algn="l" marL="0" indent="0" lvl="0">
              <a:lnSpc>
                <a:spcPts val="3562"/>
              </a:lnSpc>
              <a:spcBef>
                <a:spcPct val="0"/>
              </a:spcBef>
            </a:pPr>
            <a:r>
              <a:rPr lang="en-US" sz="2544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Information Systems (0.32)</a:t>
            </a:r>
          </a:p>
          <a:p>
            <a:pPr algn="l" marL="0" indent="0" lvl="0">
              <a:lnSpc>
                <a:spcPts val="3562"/>
              </a:lnSpc>
              <a:spcBef>
                <a:spcPct val="0"/>
              </a:spcBef>
            </a:pPr>
            <a:r>
              <a:rPr lang="en-US" sz="2544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lang="en-US" b="true" sz="2544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 Macro Avg</a:t>
            </a:r>
            <a:r>
              <a:rPr lang="en-US" sz="2544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</a:p>
          <a:p>
            <a:pPr algn="l" marL="0" indent="0" lvl="0">
              <a:lnSpc>
                <a:spcPts val="3562"/>
              </a:lnSpc>
              <a:spcBef>
                <a:spcPct val="0"/>
              </a:spcBef>
            </a:pPr>
            <a:r>
              <a:rPr lang="en-US" sz="2544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Precision 0.61, </a:t>
            </a:r>
          </a:p>
          <a:p>
            <a:pPr algn="l" marL="0" indent="0" lvl="0">
              <a:lnSpc>
                <a:spcPts val="3562"/>
              </a:lnSpc>
              <a:spcBef>
                <a:spcPct val="0"/>
              </a:spcBef>
            </a:pPr>
            <a:r>
              <a:rPr lang="en-US" sz="2544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Recall 0.62, </a:t>
            </a:r>
          </a:p>
          <a:p>
            <a:pPr algn="l" marL="0" indent="0" lvl="0">
              <a:lnSpc>
                <a:spcPts val="3562"/>
              </a:lnSpc>
              <a:spcBef>
                <a:spcPct val="0"/>
              </a:spcBef>
            </a:pPr>
            <a:r>
              <a:rPr lang="en-US" sz="2544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F1-score 0.61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03812" y="4540000"/>
            <a:ext cx="11880376" cy="4203070"/>
            <a:chOff x="0" y="0"/>
            <a:chExt cx="2357325" cy="8339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7325" cy="833980"/>
            </a:xfrm>
            <a:custGeom>
              <a:avLst/>
              <a:gdLst/>
              <a:ahLst/>
              <a:cxnLst/>
              <a:rect r="r" b="b" t="t" l="l"/>
              <a:pathLst>
                <a:path h="833980" w="2357325">
                  <a:moveTo>
                    <a:pt x="23460" y="0"/>
                  </a:moveTo>
                  <a:lnTo>
                    <a:pt x="2333865" y="0"/>
                  </a:lnTo>
                  <a:cubicBezTo>
                    <a:pt x="2346821" y="0"/>
                    <a:pt x="2357325" y="10503"/>
                    <a:pt x="2357325" y="23460"/>
                  </a:cubicBezTo>
                  <a:lnTo>
                    <a:pt x="2357325" y="810521"/>
                  </a:lnTo>
                  <a:cubicBezTo>
                    <a:pt x="2357325" y="816743"/>
                    <a:pt x="2354853" y="822710"/>
                    <a:pt x="2350454" y="827109"/>
                  </a:cubicBezTo>
                  <a:cubicBezTo>
                    <a:pt x="2346054" y="831509"/>
                    <a:pt x="2340087" y="833980"/>
                    <a:pt x="2333865" y="833980"/>
                  </a:cubicBezTo>
                  <a:lnTo>
                    <a:pt x="23460" y="833980"/>
                  </a:lnTo>
                  <a:cubicBezTo>
                    <a:pt x="17238" y="833980"/>
                    <a:pt x="11271" y="831509"/>
                    <a:pt x="6871" y="827109"/>
                  </a:cubicBezTo>
                  <a:cubicBezTo>
                    <a:pt x="2472" y="822710"/>
                    <a:pt x="0" y="816743"/>
                    <a:pt x="0" y="810521"/>
                  </a:cubicBezTo>
                  <a:lnTo>
                    <a:pt x="0" y="23460"/>
                  </a:lnTo>
                  <a:cubicBezTo>
                    <a:pt x="0" y="17238"/>
                    <a:pt x="2472" y="11271"/>
                    <a:pt x="6871" y="6871"/>
                  </a:cubicBezTo>
                  <a:cubicBezTo>
                    <a:pt x="11271" y="2472"/>
                    <a:pt x="17238" y="0"/>
                    <a:pt x="23460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57325" cy="872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188832" y="3681176"/>
            <a:ext cx="1717648" cy="1717648"/>
          </a:xfrm>
          <a:custGeom>
            <a:avLst/>
            <a:gdLst/>
            <a:ahLst/>
            <a:cxnLst/>
            <a:rect r="r" b="b" t="t" l="l"/>
            <a:pathLst>
              <a:path h="1717648" w="1717648">
                <a:moveTo>
                  <a:pt x="0" y="0"/>
                </a:moveTo>
                <a:lnTo>
                  <a:pt x="1717648" y="0"/>
                </a:lnTo>
                <a:lnTo>
                  <a:pt x="1717648" y="1717648"/>
                </a:lnTo>
                <a:lnTo>
                  <a:pt x="0" y="1717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381676" y="3669528"/>
            <a:ext cx="1729296" cy="1729296"/>
          </a:xfrm>
          <a:custGeom>
            <a:avLst/>
            <a:gdLst/>
            <a:ahLst/>
            <a:cxnLst/>
            <a:rect r="r" b="b" t="t" l="l"/>
            <a:pathLst>
              <a:path h="1729296" w="1729296">
                <a:moveTo>
                  <a:pt x="1729295" y="0"/>
                </a:moveTo>
                <a:lnTo>
                  <a:pt x="0" y="0"/>
                </a:lnTo>
                <a:lnTo>
                  <a:pt x="0" y="1729296"/>
                </a:lnTo>
                <a:lnTo>
                  <a:pt x="1729295" y="1729296"/>
                </a:lnTo>
                <a:lnTo>
                  <a:pt x="172929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65544" y="3964089"/>
            <a:ext cx="1317226" cy="1257247"/>
          </a:xfrm>
          <a:custGeom>
            <a:avLst/>
            <a:gdLst/>
            <a:ahLst/>
            <a:cxnLst/>
            <a:rect r="r" b="b" t="t" l="l"/>
            <a:pathLst>
              <a:path h="1257247" w="1317226">
                <a:moveTo>
                  <a:pt x="0" y="0"/>
                </a:moveTo>
                <a:lnTo>
                  <a:pt x="1317226" y="0"/>
                </a:lnTo>
                <a:lnTo>
                  <a:pt x="1317226" y="1257247"/>
                </a:lnTo>
                <a:lnTo>
                  <a:pt x="0" y="12572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05069" y="4102176"/>
            <a:ext cx="890681" cy="874807"/>
          </a:xfrm>
          <a:custGeom>
            <a:avLst/>
            <a:gdLst/>
            <a:ahLst/>
            <a:cxnLst/>
            <a:rect r="r" b="b" t="t" l="l"/>
            <a:pathLst>
              <a:path h="874807" w="890681">
                <a:moveTo>
                  <a:pt x="0" y="0"/>
                </a:moveTo>
                <a:lnTo>
                  <a:pt x="890681" y="0"/>
                </a:lnTo>
                <a:lnTo>
                  <a:pt x="890681" y="874807"/>
                </a:lnTo>
                <a:lnTo>
                  <a:pt x="0" y="8748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120806" y="0"/>
            <a:ext cx="2167194" cy="2167194"/>
          </a:xfrm>
          <a:custGeom>
            <a:avLst/>
            <a:gdLst/>
            <a:ahLst/>
            <a:cxnLst/>
            <a:rect r="r" b="b" t="t" l="l"/>
            <a:pathLst>
              <a:path h="2167194" w="2167194">
                <a:moveTo>
                  <a:pt x="0" y="0"/>
                </a:moveTo>
                <a:lnTo>
                  <a:pt x="2167194" y="0"/>
                </a:lnTo>
                <a:lnTo>
                  <a:pt x="2167194" y="2167194"/>
                </a:lnTo>
                <a:lnTo>
                  <a:pt x="0" y="21671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21638" y="0"/>
            <a:ext cx="2167194" cy="2167194"/>
          </a:xfrm>
          <a:custGeom>
            <a:avLst/>
            <a:gdLst/>
            <a:ahLst/>
            <a:cxnLst/>
            <a:rect r="r" b="b" t="t" l="l"/>
            <a:pathLst>
              <a:path h="2167194" w="2167194">
                <a:moveTo>
                  <a:pt x="2167194" y="0"/>
                </a:moveTo>
                <a:lnTo>
                  <a:pt x="0" y="0"/>
                </a:lnTo>
                <a:lnTo>
                  <a:pt x="0" y="2167194"/>
                </a:lnTo>
                <a:lnTo>
                  <a:pt x="2167194" y="2167194"/>
                </a:lnTo>
                <a:lnTo>
                  <a:pt x="216719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998696" y="857250"/>
            <a:ext cx="9752796" cy="152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524"/>
              </a:lnSpc>
            </a:pPr>
            <a:r>
              <a:rPr lang="en-US" b="true" sz="8946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สรุปผลการ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29342" y="1995744"/>
            <a:ext cx="7581618" cy="152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524"/>
              </a:lnSpc>
            </a:pPr>
            <a:r>
              <a:rPr lang="en-US" b="true" sz="8946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วิเคราะห์โมเดล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60708" y="5116501"/>
            <a:ext cx="9768543" cy="289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42"/>
              </a:lnSpc>
              <a:spcBef>
                <a:spcPct val="0"/>
              </a:spcBef>
            </a:pPr>
            <a:r>
              <a:rPr lang="en-US" sz="3316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โมเดลมีประสิทธิภาพแตกต่างกันตามสาขาวิชา บางสาขายังต้องปรับปรุงข้อมูลหรือโมเดลเพิ่มเติม แนวทางพัฒนาต่อไป: ขยายขนาดข้อมูล, ปรับแต่งพารามิเตอร์โมเดล และทดลองใช้โมเดลอื่นเพื่อเพิ่มความแม่นยำ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377348"/>
            <a:ext cx="8930148" cy="4034922"/>
            <a:chOff x="0" y="0"/>
            <a:chExt cx="2351973" cy="10626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1973" cy="1062696"/>
            </a:xfrm>
            <a:custGeom>
              <a:avLst/>
              <a:gdLst/>
              <a:ahLst/>
              <a:cxnLst/>
              <a:rect r="r" b="b" t="t" l="l"/>
              <a:pathLst>
                <a:path h="1062696" w="2351973">
                  <a:moveTo>
                    <a:pt x="31210" y="0"/>
                  </a:moveTo>
                  <a:lnTo>
                    <a:pt x="2320763" y="0"/>
                  </a:lnTo>
                  <a:cubicBezTo>
                    <a:pt x="2338000" y="0"/>
                    <a:pt x="2351973" y="13973"/>
                    <a:pt x="2351973" y="31210"/>
                  </a:cubicBezTo>
                  <a:lnTo>
                    <a:pt x="2351973" y="1031486"/>
                  </a:lnTo>
                  <a:cubicBezTo>
                    <a:pt x="2351973" y="1039763"/>
                    <a:pt x="2348685" y="1047701"/>
                    <a:pt x="2342832" y="1053554"/>
                  </a:cubicBezTo>
                  <a:cubicBezTo>
                    <a:pt x="2336979" y="1059407"/>
                    <a:pt x="2329041" y="1062696"/>
                    <a:pt x="2320763" y="1062696"/>
                  </a:cubicBezTo>
                  <a:lnTo>
                    <a:pt x="31210" y="1062696"/>
                  </a:lnTo>
                  <a:cubicBezTo>
                    <a:pt x="22933" y="1062696"/>
                    <a:pt x="14994" y="1059407"/>
                    <a:pt x="9141" y="1053554"/>
                  </a:cubicBezTo>
                  <a:cubicBezTo>
                    <a:pt x="3288" y="1047701"/>
                    <a:pt x="0" y="1039763"/>
                    <a:pt x="0" y="1031486"/>
                  </a:cubicBezTo>
                  <a:lnTo>
                    <a:pt x="0" y="31210"/>
                  </a:lnTo>
                  <a:cubicBezTo>
                    <a:pt x="0" y="22933"/>
                    <a:pt x="3288" y="14994"/>
                    <a:pt x="9141" y="9141"/>
                  </a:cubicBezTo>
                  <a:cubicBezTo>
                    <a:pt x="14994" y="3288"/>
                    <a:pt x="22933" y="0"/>
                    <a:pt x="31210" y="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51973" cy="1100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068466" y="1028700"/>
            <a:ext cx="2190834" cy="1517651"/>
          </a:xfrm>
          <a:custGeom>
            <a:avLst/>
            <a:gdLst/>
            <a:ahLst/>
            <a:cxnLst/>
            <a:rect r="r" b="b" t="t" l="l"/>
            <a:pathLst>
              <a:path h="1517651" w="2190834">
                <a:moveTo>
                  <a:pt x="0" y="0"/>
                </a:moveTo>
                <a:lnTo>
                  <a:pt x="2190834" y="0"/>
                </a:lnTo>
                <a:lnTo>
                  <a:pt x="2190834" y="1517651"/>
                </a:lnTo>
                <a:lnTo>
                  <a:pt x="0" y="1517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979499" y="4750060"/>
            <a:ext cx="6457079" cy="4578508"/>
          </a:xfrm>
          <a:custGeom>
            <a:avLst/>
            <a:gdLst/>
            <a:ahLst/>
            <a:cxnLst/>
            <a:rect r="r" b="b" t="t" l="l"/>
            <a:pathLst>
              <a:path h="4578508" w="6457079">
                <a:moveTo>
                  <a:pt x="0" y="0"/>
                </a:moveTo>
                <a:lnTo>
                  <a:pt x="6457079" y="0"/>
                </a:lnTo>
                <a:lnTo>
                  <a:pt x="6457079" y="4578508"/>
                </a:lnTo>
                <a:lnTo>
                  <a:pt x="0" y="4578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71327" y="3363049"/>
            <a:ext cx="1604666" cy="1604666"/>
          </a:xfrm>
          <a:custGeom>
            <a:avLst/>
            <a:gdLst/>
            <a:ahLst/>
            <a:cxnLst/>
            <a:rect r="r" b="b" t="t" l="l"/>
            <a:pathLst>
              <a:path h="1604666" w="1604666">
                <a:moveTo>
                  <a:pt x="0" y="0"/>
                </a:moveTo>
                <a:lnTo>
                  <a:pt x="1604667" y="0"/>
                </a:lnTo>
                <a:lnTo>
                  <a:pt x="1604667" y="1604666"/>
                </a:lnTo>
                <a:lnTo>
                  <a:pt x="0" y="16046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793463" y="3854563"/>
            <a:ext cx="960394" cy="621637"/>
          </a:xfrm>
          <a:custGeom>
            <a:avLst/>
            <a:gdLst/>
            <a:ahLst/>
            <a:cxnLst/>
            <a:rect r="r" b="b" t="t" l="l"/>
            <a:pathLst>
              <a:path h="621637" w="960394">
                <a:moveTo>
                  <a:pt x="0" y="0"/>
                </a:moveTo>
                <a:lnTo>
                  <a:pt x="960395" y="0"/>
                </a:lnTo>
                <a:lnTo>
                  <a:pt x="960395" y="621637"/>
                </a:lnTo>
                <a:lnTo>
                  <a:pt x="0" y="6216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847725"/>
            <a:ext cx="7882440" cy="169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0"/>
              </a:lnSpc>
            </a:pPr>
            <a:r>
              <a:rPr lang="en-US" b="true" sz="9992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การบันทึก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74257" y="1985897"/>
            <a:ext cx="7136884" cy="169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0"/>
              </a:lnSpc>
            </a:pPr>
            <a:r>
              <a:rPr lang="en-US" b="true" sz="9992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ผลลัพธ์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6659" y="4661458"/>
            <a:ext cx="8374230" cy="3409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58"/>
              </a:lnSpc>
              <a:spcBef>
                <a:spcPct val="0"/>
              </a:spcBef>
            </a:pPr>
            <a:r>
              <a:rPr lang="en-US" sz="275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ไฟล์ที่จัดเก็บและผลลัพธ์จากกระบวนการวิเคราะห์:</a:t>
            </a:r>
          </a:p>
          <a:p>
            <a:pPr algn="l" marL="0" indent="0" lvl="0">
              <a:lnSpc>
                <a:spcPts val="3858"/>
              </a:lnSpc>
              <a:spcBef>
                <a:spcPct val="0"/>
              </a:spcBef>
            </a:pPr>
            <a:r>
              <a:rPr lang="en-US" sz="275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• specter2_embeddings.npy — ข้อมูล embedding ทั้งหมด ขนาด 5,342 × 768 มิติ พร้อมใช้งานสำหรับการวิเคราะห์ต่อ</a:t>
            </a:r>
          </a:p>
          <a:p>
            <a:pPr algn="l" marL="0" indent="0" lvl="0">
              <a:lnSpc>
                <a:spcPts val="3858"/>
              </a:lnSpc>
              <a:spcBef>
                <a:spcPct val="0"/>
              </a:spcBef>
            </a:pPr>
            <a:r>
              <a:rPr lang="en-US" sz="275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• scopus_cleaned_with_embedding_text.csv — ข้อมูลบทความที่ผ่านการทำความสะอาดพร้อมคอลัมน์ embedding_text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597073" cy="557133"/>
          </a:xfrm>
          <a:custGeom>
            <a:avLst/>
            <a:gdLst/>
            <a:ahLst/>
            <a:cxnLst/>
            <a:rect r="r" b="b" t="t" l="l"/>
            <a:pathLst>
              <a:path h="557133" w="597073">
                <a:moveTo>
                  <a:pt x="0" y="0"/>
                </a:moveTo>
                <a:lnTo>
                  <a:pt x="597073" y="0"/>
                </a:lnTo>
                <a:lnTo>
                  <a:pt x="597073" y="557133"/>
                </a:lnTo>
                <a:lnTo>
                  <a:pt x="0" y="5571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05007" y="1028700"/>
            <a:ext cx="3776383" cy="3055437"/>
          </a:xfrm>
          <a:custGeom>
            <a:avLst/>
            <a:gdLst/>
            <a:ahLst/>
            <a:cxnLst/>
            <a:rect r="r" b="b" t="t" l="l"/>
            <a:pathLst>
              <a:path h="3055437" w="3776383">
                <a:moveTo>
                  <a:pt x="0" y="0"/>
                </a:moveTo>
                <a:lnTo>
                  <a:pt x="3776383" y="0"/>
                </a:lnTo>
                <a:lnTo>
                  <a:pt x="3776383" y="3055437"/>
                </a:lnTo>
                <a:lnTo>
                  <a:pt x="0" y="30554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13291" y="2635445"/>
            <a:ext cx="5415575" cy="5738357"/>
          </a:xfrm>
          <a:custGeom>
            <a:avLst/>
            <a:gdLst/>
            <a:ahLst/>
            <a:cxnLst/>
            <a:rect r="r" b="b" t="t" l="l"/>
            <a:pathLst>
              <a:path h="5738357" w="5415575">
                <a:moveTo>
                  <a:pt x="0" y="0"/>
                </a:moveTo>
                <a:lnTo>
                  <a:pt x="5415575" y="0"/>
                </a:lnTo>
                <a:lnTo>
                  <a:pt x="5415575" y="5738357"/>
                </a:lnTo>
                <a:lnTo>
                  <a:pt x="0" y="57383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805793"/>
            <a:ext cx="8312264" cy="222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87"/>
              </a:lnSpc>
            </a:pPr>
            <a:r>
              <a:rPr lang="en-US" b="true" sz="12990">
                <a:solidFill>
                  <a:srgbClr val="1F1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ขอบคุณ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256974"/>
            <a:ext cx="10484591" cy="222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87"/>
              </a:lnSpc>
            </a:pPr>
            <a:r>
              <a:rPr lang="en-US" b="true" sz="12990">
                <a:solidFill>
                  <a:srgbClr val="10B9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2537" y="1091366"/>
            <a:ext cx="3901038" cy="85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รายงานการวิเคราะห์ข้อมูล Scopus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DAHTkmb8jjU</dc:identifier>
  <dcterms:modified xsi:type="dcterms:W3CDTF">2011-08-01T06:04:30Z</dcterms:modified>
  <cp:revision>1</cp:revision>
  <dc:title>รายงานวิเคราะห์และเตรียมข้อมูล Scopus</dc:title>
</cp:coreProperties>
</file>